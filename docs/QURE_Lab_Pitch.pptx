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f37df485-e704-9169-3f8b-8cb4ffaf88a1}">
          <p14:sldIdLst>
            <p14:sldId id="256"/>
          </p14:sldIdLst>
        </p14:section>
        <p14:section name="Problem and solution" id="{e9f92738-a6b7-9675-50bc-455f8c4aa5fe}">
          <p14:sldIdLst>
            <p14:sldId id="257"/>
            <p14:sldId id="258"/>
          </p14:sldIdLst>
        </p14:section>
        <p14:section name="Research and data" id="{0c1afd3c-6d3f-7a3b-c32a-80e7572e236d}">
          <p14:sldIdLst>
            <p14:sldId id="259"/>
            <p14:sldId id="260"/>
            <p14:sldId id="261"/>
          </p14:sldIdLst>
        </p14:section>
        <p14:section name="Workflow" id="{9052bd9f-3fc0-5dcf-9d2f-5a02c12a66ba}">
          <p14:sldIdLst>
            <p14:sldId id="262"/>
          </p14:sldIdLst>
        </p14:section>
        <p14:section name="Solution criteria" id="{ab989edd-3a9e-9eb8-f599-7b8875bdf32a}">
          <p14:sldIdLst>
            <p14:sldId id="263"/>
            <p14:sldId id="264"/>
            <p14:sldId id="265"/>
            <p14:sldId id="266"/>
          </p14:sldIdLst>
        </p14:section>
        <p14:section name="Results and VR" id="{684c7883-a7bc-7f00-02db-bd7577b7d449}">
          <p14:sldIdLst>
            <p14:sldId id="267"/>
            <p14:sldId id="268"/>
          </p14:sldIdLst>
        </p14:section>
        <p14:section name="Close" id="{f63d05bc-1ee5-4323-63ec-2e72b7a2464d}">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3213A"/>
                </a:solidFill>
                <a:latin typeface="+mn-lt"/>
              </a:defRPr>
            </a:pPr>
            <a:r>
              <a:rPr sz="1400" b="0" i="0" u="none" strike="noStrike">
                <a:solidFill>
                  <a:srgbClr val="13213A"/>
                </a:solidFill>
                <a:latin typeface="+mn-lt"/>
              </a:rPr>
              <a:t>Nodules per split (each patient in one split only)</a:t>
            </a:r>
          </a:p>
        </c:rich>
      </c:tx>
      <c:layout/>
      <c:overlay val="0"/>
    </c:title>
    <c:autoTitleDeleted val="0"/>
    <c:plotArea>
      <c:layout/>
      <c:barChart>
        <c:barDir val="col"/>
        <c:grouping val="stacked"/>
        <c:varyColors val="0"/>
        <c:ser>
          <c:idx val="0"/>
          <c:order val="0"/>
          <c:tx>
            <c:strRef>
              <c:f>Sheet1!$B$1</c:f>
              <c:strCache>
                <c:ptCount val="1"/>
                <c:pt idx="0">
                  <c:v>High suspicion</c:v>
                </c:pt>
              </c:strCache>
            </c:strRef>
          </c:tx>
          <c:spPr>
            <a:solidFill>
              <a:srgbClr val="C8432B"/>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Train (321 patients)</c:v>
                  </c:pt>
                  <c:pt idx="1">
                    <c:v>Validation (107)</c:v>
                  </c:pt>
                  <c:pt idx="2">
                    <c:v>Test (107)</c:v>
                  </c:pt>
                </c:lvl>
              </c:multiLvlStrCache>
            </c:multiLvlStrRef>
          </c:cat>
          <c:val>
            <c:numRef>
              <c:f>Sheet1!$B$2:$B$4</c:f>
              <c:numCache>
                <c:formatCode>General</c:formatCode>
                <c:ptCount val="3"/>
                <c:pt idx="0">
                  <c:v>254</c:v>
                </c:pt>
                <c:pt idx="1">
                  <c:v>82</c:v>
                </c:pt>
                <c:pt idx="2">
                  <c:v>94</c:v>
                </c:pt>
              </c:numCache>
            </c:numRef>
          </c:val>
        </c:ser>
        <c:ser>
          <c:idx val="1"/>
          <c:order val="1"/>
          <c:tx>
            <c:strRef>
              <c:f>Sheet1!$C$1</c:f>
              <c:strCache>
                <c:ptCount val="1"/>
                <c:pt idx="0">
                  <c:v>Low suspicion</c:v>
                </c:pt>
              </c:strCache>
            </c:strRef>
          </c:tx>
          <c:spPr>
            <a:solidFill>
              <a:srgbClr val="2B66C4"/>
            </a:solidFill>
            <a:effectLst/>
          </c:spPr>
          <c:invertIfNegative val="0"/>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cat>
            <c:multiLvlStrRef>
              <c:f>Sheet1!$A$2:$A$4</c:f>
              <c:multiLvlStrCache>
                <c:ptCount val="3"/>
                <c:lvl>
                  <c:pt idx="0">
                    <c:v>Train (321 patients)</c:v>
                  </c:pt>
                  <c:pt idx="1">
                    <c:v>Validation (107)</c:v>
                  </c:pt>
                  <c:pt idx="2">
                    <c:v>Test (107)</c:v>
                  </c:pt>
                </c:lvl>
              </c:multiLvlStrCache>
            </c:multiLvlStrRef>
          </c:cat>
          <c:val>
            <c:numRef>
              <c:f>Sheet1!$C$2:$C$4</c:f>
              <c:numCache>
                <c:formatCode>General</c:formatCode>
                <c:ptCount val="3"/>
                <c:pt idx="0">
                  <c:v>251</c:v>
                </c:pt>
                <c:pt idx="1">
                  <c:v>109</c:v>
                </c:pt>
                <c:pt idx="2">
                  <c:v>89</c:v>
                </c:pt>
              </c:numCache>
            </c:numRef>
          </c:val>
        </c:ser>
        <c:dLbls>
          <c:numFmt formatCode="#,##0" sourceLinked="0"/>
          <c:txPr>
            <a:bodyPr/>
            <a:lstStyle/>
            <a:p>
              <a:pPr>
                <a:defRPr b="0" i="0" strike="noStrike" sz="1200" u="none">
                  <a:solidFill>
                    <a:srgbClr val="FFFFFF"/>
                  </a:solidFill>
                  <a:latin typeface="+mn-lt"/>
                </a:defRPr>
              </a:pPr>
            </a:p>
          </c:txPr>
          <c:dLblPos val="ctr"/>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7EF"/>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3213A"/>
                </a:solidFill>
                <a:latin typeface="+mn-lt"/>
              </a:defRPr>
            </a:pPr>
            <a:r>
              <a:rPr sz="1400" b="0" i="0" u="none" strike="noStrike">
                <a:solidFill>
                  <a:srgbClr val="13213A"/>
                </a:solidFill>
                <a:latin typeface="+mn-lt"/>
              </a:rPr>
              <a:t>Test balanced accuracy</a:t>
            </a:r>
          </a:p>
        </c:rich>
      </c:tx>
      <c:layout/>
      <c:overlay val="0"/>
    </c:title>
    <c:autoTitleDeleted val="0"/>
    <c:plotArea>
      <c:layout/>
      <c:lineChart>
        <c:varyColors val="0"/>
        <c:ser>
          <c:idx val="0"/>
          <c:order val="0"/>
          <c:tx>
            <c:strRef>
              <c:f>Sheet1!$B$1</c:f>
              <c:strCache>
                <c:ptCount val="1"/>
                <c:pt idx="0">
                  <c:v>Noise-free</c:v>
                </c:pt>
              </c:strCache>
            </c:strRef>
          </c:tx>
          <c:spPr>
            <a:solidFill>
              <a:srgbClr val="13213A"/>
            </a:solidFill>
            <a:ln w="25400" cap="flat">
              <a:solidFill>
                <a:srgbClr val="13213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3213A"/>
              </a:solidFill>
              <a:ln w="9525" cap="flat">
                <a:solidFill>
                  <a:srgbClr val="13213A"/>
                </a:solidFill>
                <a:prstDash val="solid"/>
                <a:round/>
              </a:ln>
              <a:effectLst/>
            </c:spPr>
          </c:marker>
          <c:cat>
            <c:multiLvlStrRef>
              <c:f>Sheet1!$A$2:$A$6</c:f>
              <c:multiLvlStrCache>
                <c:ptCount val="5"/>
                <c:lvl>
                  <c:pt idx="0">
                    <c:v>N0 none</c:v>
                  </c:pt>
                  <c:pt idx="1">
                    <c:v>N1 readout</c:v>
                  </c:pt>
                  <c:pt idx="2">
                    <c:v>N2 gate</c:v>
                  </c:pt>
                  <c:pt idx="3">
                    <c:v>N3 both</c:v>
                  </c:pt>
                  <c:pt idx="4">
                    <c:v>N4 high</c:v>
                  </c:pt>
                </c:lvl>
              </c:multiLvlStrCache>
            </c:multiLvlStrRef>
          </c:cat>
          <c:val>
            <c:numRef>
              <c:f>Sheet1!$B$2:$B$6</c:f>
              <c:numCache>
                <c:formatCode>General</c:formatCode>
                <c:ptCount val="5"/>
                <c:pt idx="0">
                  <c:v>0.857</c:v>
                </c:pt>
                <c:pt idx="1">
                  <c:v>0.857</c:v>
                </c:pt>
                <c:pt idx="2">
                  <c:v>0.857</c:v>
                </c:pt>
                <c:pt idx="3">
                  <c:v>0.857</c:v>
                </c:pt>
                <c:pt idx="4">
                  <c:v>0.857</c:v>
                </c:pt>
              </c:numCache>
            </c:numRef>
          </c:val>
          <c:smooth val="0"/>
        </c:ser>
        <c:ser>
          <c:idx val="1"/>
          <c:order val="1"/>
          <c:tx>
            <c:strRef>
              <c:f>Sheet1!$C$1</c:f>
              <c:strCache>
                <c:ptCount val="1"/>
                <c:pt idx="0">
                  <c:v>Noisy</c:v>
                </c:pt>
              </c:strCache>
            </c:strRef>
          </c:tx>
          <c:spPr>
            <a:solidFill>
              <a:srgbClr val="C8432B"/>
            </a:solidFill>
            <a:ln w="25400" cap="flat">
              <a:solidFill>
                <a:srgbClr val="C8432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8432B"/>
              </a:solidFill>
              <a:ln w="9525" cap="flat">
                <a:solidFill>
                  <a:srgbClr val="C8432B"/>
                </a:solidFill>
                <a:prstDash val="solid"/>
                <a:round/>
              </a:ln>
              <a:effectLst/>
            </c:spPr>
          </c:marker>
          <c:cat>
            <c:multiLvlStrRef>
              <c:f>Sheet1!$A$2:$A$6</c:f>
              <c:multiLvlStrCache>
                <c:ptCount val="5"/>
                <c:lvl>
                  <c:pt idx="0">
                    <c:v>N0 none</c:v>
                  </c:pt>
                  <c:pt idx="1">
                    <c:v>N1 readout</c:v>
                  </c:pt>
                  <c:pt idx="2">
                    <c:v>N2 gate</c:v>
                  </c:pt>
                  <c:pt idx="3">
                    <c:v>N3 both</c:v>
                  </c:pt>
                  <c:pt idx="4">
                    <c:v>N4 high</c:v>
                  </c:pt>
                </c:lvl>
              </c:multiLvlStrCache>
            </c:multiLvlStrRef>
          </c:cat>
          <c:val>
            <c:numRef>
              <c:f>Sheet1!$C$2:$C$6</c:f>
              <c:numCache>
                <c:formatCode>General</c:formatCode>
                <c:ptCount val="5"/>
                <c:pt idx="0">
                  <c:v>0.863</c:v>
                </c:pt>
                <c:pt idx="1">
                  <c:v>0.846</c:v>
                </c:pt>
                <c:pt idx="2">
                  <c:v>0.863</c:v>
                </c:pt>
                <c:pt idx="3">
                  <c:v>0.846</c:v>
                </c:pt>
                <c:pt idx="4">
                  <c:v>0.84</c:v>
                </c:pt>
              </c:numCache>
            </c:numRef>
          </c:val>
          <c:smooth val="0"/>
        </c:ser>
        <c:ser>
          <c:idx val="2"/>
          <c:order val="2"/>
          <c:tx>
            <c:strRef>
              <c:f>Sheet1!$D$1</c:f>
              <c:strCache>
                <c:ptCount val="1"/>
                <c:pt idx="0">
                  <c:v>Mitigated</c:v>
                </c:pt>
              </c:strCache>
            </c:strRef>
          </c:tx>
          <c:spPr>
            <a:solidFill>
              <a:srgbClr val="2B66C4"/>
            </a:solidFill>
            <a:ln w="25400" cap="flat">
              <a:solidFill>
                <a:srgbClr val="2B66C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2B66C4"/>
              </a:solidFill>
              <a:ln w="9525" cap="flat">
                <a:solidFill>
                  <a:srgbClr val="2B66C4"/>
                </a:solidFill>
                <a:prstDash val="solid"/>
                <a:round/>
              </a:ln>
              <a:effectLst/>
            </c:spPr>
          </c:marker>
          <c:cat>
            <c:multiLvlStrRef>
              <c:f>Sheet1!$A$2:$A$6</c:f>
              <c:multiLvlStrCache>
                <c:ptCount val="5"/>
                <c:lvl>
                  <c:pt idx="0">
                    <c:v>N0 none</c:v>
                  </c:pt>
                  <c:pt idx="1">
                    <c:v>N1 readout</c:v>
                  </c:pt>
                  <c:pt idx="2">
                    <c:v>N2 gate</c:v>
                  </c:pt>
                  <c:pt idx="3">
                    <c:v>N3 both</c:v>
                  </c:pt>
                  <c:pt idx="4">
                    <c:v>N4 high</c:v>
                  </c:pt>
                </c:lvl>
              </c:multiLvlStrCache>
            </c:multiLvlStrRef>
          </c:cat>
          <c:val>
            <c:numRef>
              <c:f>Sheet1!$D$2:$D$6</c:f>
              <c:numCache>
                <c:formatCode>General</c:formatCode>
                <c:ptCount val="5"/>
                <c:pt idx="0">
                  <c:v>0.863</c:v>
                </c:pt>
                <c:pt idx="1">
                  <c:v>0.857</c:v>
                </c:pt>
                <c:pt idx="2">
                  <c:v>0.863</c:v>
                </c:pt>
                <c:pt idx="3">
                  <c:v>0.863</c:v>
                </c:pt>
                <c:pt idx="4">
                  <c:v>0.846</c:v>
                </c:pt>
              </c:numCache>
            </c:numRef>
          </c:val>
          <c:smooth val="0"/>
        </c:ser>
        <c:ser>
          <c:idx val="3"/>
          <c:order val="3"/>
          <c:tx>
            <c:strRef>
              <c:f>Sheet1!$E$1</c:f>
              <c:strCache>
                <c:ptCount val="1"/>
                <c:pt idx="0">
                  <c:v>Classical (log. reg.)</c:v>
                </c:pt>
              </c:strCache>
            </c:strRef>
          </c:tx>
          <c:spPr>
            <a:solidFill>
              <a:srgbClr val="A87B12"/>
            </a:solidFill>
            <a:ln w="25400" cap="flat">
              <a:solidFill>
                <a:srgbClr val="A87B12"/>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A87B12"/>
              </a:solidFill>
              <a:ln w="9525" cap="flat">
                <a:solidFill>
                  <a:srgbClr val="A87B12"/>
                </a:solidFill>
                <a:prstDash val="solid"/>
                <a:round/>
              </a:ln>
              <a:effectLst/>
            </c:spPr>
          </c:marker>
          <c:cat>
            <c:multiLvlStrRef>
              <c:f>Sheet1!$A$2:$A$6</c:f>
              <c:multiLvlStrCache>
                <c:ptCount val="5"/>
                <c:lvl>
                  <c:pt idx="0">
                    <c:v>N0 none</c:v>
                  </c:pt>
                  <c:pt idx="1">
                    <c:v>N1 readout</c:v>
                  </c:pt>
                  <c:pt idx="2">
                    <c:v>N2 gate</c:v>
                  </c:pt>
                  <c:pt idx="3">
                    <c:v>N3 both</c:v>
                  </c:pt>
                  <c:pt idx="4">
                    <c:v>N4 high</c:v>
                  </c:pt>
                </c:lvl>
              </c:multiLvlStrCache>
            </c:multiLvlStrRef>
          </c:cat>
          <c:val>
            <c:numRef>
              <c:f>Sheet1!$E$2:$E$6</c:f>
              <c:numCache>
                <c:formatCode>General</c:formatCode>
                <c:ptCount val="5"/>
                <c:pt idx="0">
                  <c:v>0.852</c:v>
                </c:pt>
                <c:pt idx="1">
                  <c:v>0.852</c:v>
                </c:pt>
                <c:pt idx="2">
                  <c:v>0.852</c:v>
                </c:pt>
                <c:pt idx="3">
                  <c:v>0.852</c:v>
                </c:pt>
                <c:pt idx="4">
                  <c:v>0.852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max val="0.9"/>
          <c:min val="0.8"/>
        </c:scaling>
        <c:delete val="0"/>
        <c:axPos val="l"/>
        <c:majorGridlines>
          <c:spPr>
            <a:ln w="6350" cap="flat">
              <a:solidFill>
                <a:srgbClr val="E2E7EF"/>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3213A"/>
                </a:solidFill>
                <a:latin typeface="+mn-lt"/>
              </a:defRPr>
            </a:pPr>
            <a:r>
              <a:rPr sz="1400" b="0" i="0" u="none" strike="noStrike">
                <a:solidFill>
                  <a:srgbClr val="13213A"/>
                </a:solidFill>
                <a:latin typeface="+mn-lt"/>
              </a:rPr>
              <a:t>Distance from the noise-free answer</a:t>
            </a:r>
          </a:p>
        </c:rich>
      </c:tx>
      <c:layout/>
      <c:overlay val="0"/>
    </c:title>
    <c:autoTitleDeleted val="0"/>
    <c:plotArea>
      <c:layout/>
      <c:barChart>
        <c:barDir val="col"/>
        <c:grouping val="clustered"/>
        <c:varyColors val="0"/>
        <c:ser>
          <c:idx val="0"/>
          <c:order val="0"/>
          <c:tx>
            <c:strRef>
              <c:f>Sheet1!$B$1</c:f>
              <c:strCache>
                <c:ptCount val="1"/>
                <c:pt idx="0">
                  <c:v>Noisy</c:v>
                </c:pt>
              </c:strCache>
            </c:strRef>
          </c:tx>
          <c:spPr>
            <a:solidFill>
              <a:srgbClr val="C8432B"/>
            </a:solidFill>
            <a:effectLst/>
          </c:spPr>
          <c:invertIfNegative val="0"/>
          <c:dLbls>
            <c:numFmt formatCode="0.00" sourceLinked="0"/>
            <c:txPr>
              <a:bodyPr/>
              <a:lstStyle/>
              <a:p>
                <a:pPr>
                  <a:defRPr b="0" i="0" strike="noStrike" sz="1000" u="none">
                    <a:solidFill>
                      <a:srgbClr val="4A5568"/>
                    </a:solidFill>
                    <a:latin typeface="+mn-lt"/>
                  </a:defRPr>
                </a:pPr>
              </a:p>
            </c:txPr>
            <c:showLegendKey val="0"/>
            <c:showVal val="1"/>
            <c:showCatName val="0"/>
            <c:showSerName val="0"/>
            <c:showPercent val="0"/>
            <c:showBubbleSize val="0"/>
            <c:showLeaderLines val="0"/>
          </c:dLbls>
          <c:cat>
            <c:multiLvlStrRef>
              <c:f>Sheet1!$A$2:$A$6</c:f>
              <c:multiLvlStrCache>
                <c:ptCount val="5"/>
                <c:lvl>
                  <c:pt idx="0">
                    <c:v>N0 none</c:v>
                  </c:pt>
                  <c:pt idx="1">
                    <c:v>N1 readout</c:v>
                  </c:pt>
                  <c:pt idx="2">
                    <c:v>N2 gate</c:v>
                  </c:pt>
                  <c:pt idx="3">
                    <c:v>N3 both</c:v>
                  </c:pt>
                  <c:pt idx="4">
                    <c:v>N4 high</c:v>
                  </c:pt>
                </c:lvl>
              </c:multiLvlStrCache>
            </c:multiLvlStrRef>
          </c:cat>
          <c:val>
            <c:numRef>
              <c:f>Sheet1!$B$2:$B$6</c:f>
              <c:numCache>
                <c:formatCode>General</c:formatCode>
                <c:ptCount val="5"/>
                <c:pt idx="0">
                  <c:v>0.002</c:v>
                </c:pt>
                <c:pt idx="1">
                  <c:v>0.074</c:v>
                </c:pt>
                <c:pt idx="2">
                  <c:v>0.02</c:v>
                </c:pt>
                <c:pt idx="3">
                  <c:v>0.091</c:v>
                </c:pt>
                <c:pt idx="4">
                  <c:v>0.18</c:v>
                </c:pt>
              </c:numCache>
            </c:numRef>
          </c:val>
        </c:ser>
        <c:ser>
          <c:idx val="1"/>
          <c:order val="1"/>
          <c:tx>
            <c:strRef>
              <c:f>Sheet1!$C$1</c:f>
              <c:strCache>
                <c:ptCount val="1"/>
                <c:pt idx="0">
                  <c:v>Mitigated</c:v>
                </c:pt>
              </c:strCache>
            </c:strRef>
          </c:tx>
          <c:spPr>
            <a:solidFill>
              <a:srgbClr val="2B66C4"/>
            </a:solidFill>
            <a:effectLst/>
          </c:spPr>
          <c:invertIfNegative val="0"/>
          <c:dLbls>
            <c:numFmt formatCode="0.00" sourceLinked="0"/>
            <c:txPr>
              <a:bodyPr/>
              <a:lstStyle/>
              <a:p>
                <a:pPr>
                  <a:defRPr b="0" i="0" strike="noStrike" sz="1000" u="none">
                    <a:solidFill>
                      <a:srgbClr val="4A5568"/>
                    </a:solidFill>
                    <a:latin typeface="+mn-lt"/>
                  </a:defRPr>
                </a:pPr>
              </a:p>
            </c:txPr>
            <c:showLegendKey val="0"/>
            <c:showVal val="1"/>
            <c:showCatName val="0"/>
            <c:showSerName val="0"/>
            <c:showPercent val="0"/>
            <c:showBubbleSize val="0"/>
            <c:showLeaderLines val="0"/>
          </c:dLbls>
          <c:cat>
            <c:multiLvlStrRef>
              <c:f>Sheet1!$A$2:$A$6</c:f>
              <c:multiLvlStrCache>
                <c:ptCount val="5"/>
                <c:lvl>
                  <c:pt idx="0">
                    <c:v>N0 none</c:v>
                  </c:pt>
                  <c:pt idx="1">
                    <c:v>N1 readout</c:v>
                  </c:pt>
                  <c:pt idx="2">
                    <c:v>N2 gate</c:v>
                  </c:pt>
                  <c:pt idx="3">
                    <c:v>N3 both</c:v>
                  </c:pt>
                  <c:pt idx="4">
                    <c:v>N4 high</c:v>
                  </c:pt>
                </c:lvl>
              </c:multiLvlStrCache>
            </c:multiLvlStrRef>
          </c:cat>
          <c:val>
            <c:numRef>
              <c:f>Sheet1!$C$2:$C$6</c:f>
              <c:numCache>
                <c:formatCode>General</c:formatCode>
                <c:ptCount val="5"/>
                <c:pt idx="0">
                  <c:v>0.002</c:v>
                </c:pt>
                <c:pt idx="1">
                  <c:v>0.004</c:v>
                </c:pt>
                <c:pt idx="2">
                  <c:v>0.02</c:v>
                </c:pt>
                <c:pt idx="3">
                  <c:v>0.019</c:v>
                </c:pt>
                <c:pt idx="4">
                  <c:v>0.056</c:v>
                </c:pt>
              </c:numCache>
            </c:numRef>
          </c:val>
        </c:ser>
        <c:dLbls>
          <c:numFmt formatCode="0.00" sourceLinked="0"/>
          <c:txPr>
            <a:bodyPr/>
            <a:lstStyle/>
            <a:p>
              <a:pPr>
                <a:defRPr b="0" i="0" strike="noStrike" sz="1000" u="none">
                  <a:solidFill>
                    <a:srgbClr val="4A5568"/>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7EF"/>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4A5568"/>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QURE Lab, pronounced 'cure'. One line: we built a tool that measures when a quantum model's answer can be trusted under noise, and what it costs to make it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not that quantum models are wrong; it's that noise can change them silently. Our own experiment shows it: at the highest noise level about 5 in 100 decisions flipped.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built around the four judging criteria. The next slides take each one in turn after showing the research and data behind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method is built on published work, not guesswork. Temme et al. for mitigation, IBM's documentation for what readout mitigation can and cannot do, Bowles et al. for why we must compare against classical baselines, and LIDC-IDRI as the data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the data comes from: LIDC-IDRI is a public archive of 1,018 CT scans from 1,010 patients, each reviewed by up to four radiologists. We kept 879 nodules from 535 patients and split them by patient, so the model is never tested on a patient it trained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protocol prevents cheating: train on train, tune on validation, freeze everything, then run the test set exactly once. We answer three separate questions: is it correct, did noise change it, and was fixing it worth the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pipeline. Top row left to right: real radiologist data, cleaning and feature extraction, then the quantum and classical models. Bottom row right to left: we compare and measure, produce per-nodule and overall outputs, and the website lets anyone explore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Impact: we don't claim to diagnose anyone. The impact is giving quantum-ML researchers a way to see when their model's answer is trustworthy, before they rely on noisy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kinds of constraint. Noise: we separate readout from gate noise, repeat runs, compare fairly at equal shots, and never clip inconvenient numbers. Data: patient-level split, honest labels, train-only scaling, and one look at the test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Implementation fidelity: this is a real Qiskit circuit, not a classical model dressed up. Four data angles, twelve trained angles, six entangling gates, and the answer comes from measuring all four qubits. Thirteen automated tests, exact reproducibility, and every number traces back to a saved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four qubits, minutes of compute, no quantum hardware required, and a website that works with no internet. Each team member owns one clear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on 183 test nodules. Left: accuracy stays about 85 percent in every setting, level with logistic regression, so no quantum advantage. Right: mitigation cuts the distance from the noise-free answer about three times when readout noise is present, but does nothing for gate-only noise (N2). It also roughly doubles run-to-run spread. Our pre-declared flag caught 8 of the 12 unstable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VR is not a gimmick and not required. It is a second view of the same saved results. It helps because our data really is three-dimensional, and because seeing five noisy runs as a spatial cluster around the decision line makes instability obvious. We cite studies where 3D viewing helped experts, but we do not claim VR improves accuracy, and it is still planned.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QURE Lab goes next. First, strengthen the method: zero-noise extrapolation to tackle gate noise, noise settings from a real IBM device, and patient-level confidence intervals. Then run on real hardware and add the Quest 3 view. Later, use features measured directly from CT images, include the harder unclear nodules, and open the tool so any small quantum classifier can be tested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question we answered, then switch to the live demo. Next steps show where the research goes.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28016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3" name="Text 0"/>
          <p:cNvSpPr/>
          <p:nvPr>
            <p:ph idx="101" type="body" hasCustomPrompt="1"/>
          </p:nvPr>
        </p:nvSpPr>
        <p:spPr>
          <a:xfrm>
            <a:off x="731520" y="3429000"/>
            <a:ext cx="10058400" cy="1463040"/>
          </a:xfrm>
          <a:prstGeom prst="rect">
            <a:avLst/>
          </a:prstGeom>
          <a:noFill/>
          <a:ln/>
        </p:spPr>
        <p:txBody>
          <a:bodyPr wrap="square" rtlCol="0"/>
          <a:lstStyle>
            <a:lvl1pPr indent="0" marL="0">
              <a:buNone/>
              <a:defRPr lang="en-US" sz="2000" dirty="0">
                <a:solidFill>
                  <a:srgbClr val="C9D1E3"/>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000" b="1" dirty="0">
                <a:solidFill>
                  <a:schemeClr val="tx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tx2"/>
                </a:solidFill>
              </a:rPr>
              <a:t>QURE Lab · Qiskit Fall Fest 2026 · Track 5 Open Innovation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280160"/>
          </a:xfrm>
          <a:prstGeom prst="rect">
            <a:avLst/>
          </a:prstGeom>
          <a:noFill/>
          <a:ln/>
        </p:spPr>
        <p:txBody>
          <a:bodyPr wrap="square"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QURE Lab</a:t>
            </a:r>
            <a:endParaRPr lang="en-US" sz="5400" dirty="0"/>
          </a:p>
        </p:txBody>
      </p:sp>
      <p:sp>
        <p:nvSpPr>
          <p:cNvPr id="3" name="Text 0"/>
          <p:cNvSpPr/>
          <p:nvPr>
            <p:ph idx="101" type="body" hasCustomPrompt="1"/>
          </p:nvPr>
        </p:nvSpPr>
        <p:spPr>
          <a:xfrm>
            <a:off x="731520" y="3429000"/>
            <a:ext cx="10058400" cy="1463040"/>
          </a:xfrm>
          <a:prstGeom prst="rect">
            <a:avLst/>
          </a:prstGeom>
          <a:noFill/>
          <a:ln/>
        </p:spPr>
        <p:txBody>
          <a:bodyPr wrap="square" rtlCol="0" anchor="t"/>
          <a:lstStyle/>
          <a:p>
            <a:pPr indent="0" marL="0">
              <a:buNone/>
            </a:pPr>
            <a:r>
              <a:rPr lang="en-US" sz="2000" b="1" dirty="0">
                <a:solidFill>
                  <a:srgbClr val="FFFFFF"/>
                </a:solidFill>
              </a:rPr>
              <a:t>Quantum Uncertainty-aware Research Environment</a:t>
            </a:r>
            <a:endParaRPr lang="en-US" sz="2000" dirty="0"/>
          </a:p>
          <a:p>
            <a:pPr indent="0" marL="0">
              <a:buNone/>
            </a:pPr>
            <a:r>
              <a:rPr lang="en-US" sz="2000" dirty="0">
                <a:solidFill>
                  <a:srgbClr val="C9D1E3"/>
                </a:solidFill>
              </a:rPr>
              <a:t>When noise changes a quantum classifier's answer, can we detect it, and is fixing it worth the cost?</a:t>
            </a:r>
            <a:endParaRPr lang="en-US" sz="2000" dirty="0"/>
          </a:p>
        </p:txBody>
      </p:sp>
      <p:sp>
        <p:nvSpPr>
          <p:cNvPr id="4" name="icon-circle"/>
          <p:cNvSpPr/>
          <p:nvPr/>
        </p:nvSpPr>
        <p:spPr>
          <a:xfrm>
            <a:off x="731520" y="1005840"/>
            <a:ext cx="822960" cy="82296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929030" y="1203350"/>
            <a:ext cx="427939" cy="427939"/>
          </a:xfrm>
          <a:prstGeom prst="rect">
            <a:avLst/>
          </a:prstGeom>
        </p:spPr>
      </p:pic>
      <p:sp>
        <p:nvSpPr>
          <p:cNvPr id="6" name="Text 3"/>
          <p:cNvSpPr txBox="1"/>
          <p:nvPr/>
        </p:nvSpPr>
        <p:spPr>
          <a:xfrm>
            <a:off x="731520" y="5943600"/>
            <a:ext cx="9144000" cy="365760"/>
          </a:xfrm>
          <a:prstGeom prst="rect">
            <a:avLst/>
          </a:prstGeom>
          <a:noFill/>
          <a:ln/>
        </p:spPr>
        <p:txBody>
          <a:bodyPr wrap="square" lIns="0" tIns="0" rIns="0" bIns="0" rtlCol="0" anchor="t"/>
          <a:lstStyle/>
          <a:p>
            <a:pPr indent="0" marL="0">
              <a:buNone/>
            </a:pPr>
            <a:r>
              <a:rPr lang="en-US" sz="1400" dirty="0">
                <a:solidFill>
                  <a:srgbClr val="C9D1E3"/>
                </a:solidFill>
              </a:rPr>
              <a:t>Qiskit Fall Fest 2026 · Track 5 Open Innovation · VIT Chennai</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Noise can quietly change a quantum model's answer</a:t>
            </a:r>
            <a:endParaRPr lang="en-US" sz="3000" dirty="0"/>
          </a:p>
        </p:txBody>
      </p:sp>
      <p:sp>
        <p:nvSpPr>
          <p:cNvPr id="3" name="icon-circle"/>
          <p:cNvSpPr/>
          <p:nvPr/>
        </p:nvSpPr>
        <p:spPr>
          <a:xfrm>
            <a:off x="548640" y="1417320"/>
            <a:ext cx="685800" cy="685800"/>
          </a:xfrm>
          <a:prstGeom prst="ellipse">
            <a:avLst/>
          </a:prstGeom>
          <a:solidFill>
            <a:schemeClr val="accent2"/>
          </a:solidFill>
          <a:ln w="12700">
            <a:solidFill>
              <a:schemeClr val="accent2"/>
            </a:solidFill>
            <a:prstDash val="solid"/>
          </a:ln>
        </p:spPr>
      </p:sp>
      <p:pic>
        <p:nvPicPr>
          <p:cNvPr id="4" name="icon" descr="preencoded.png">    </p:cNvPr>
          <p:cNvPicPr>
            <a:picLocks noChangeAspect="1"/>
          </p:cNvPicPr>
          <p:nvPr/>
        </p:nvPicPr>
        <p:blipFill>
          <a:blip r:embed="rId1"/>
          <a:stretch>
            <a:fillRect/>
          </a:stretch>
        </p:blipFill>
        <p:spPr>
          <a:xfrm>
            <a:off x="713232" y="1581912"/>
            <a:ext cx="356616" cy="356616"/>
          </a:xfrm>
          <a:prstGeom prst="rect">
            <a:avLst/>
          </a:prstGeom>
        </p:spPr>
      </p:pic>
      <p:sp>
        <p:nvSpPr>
          <p:cNvPr id="5" name="Text 2"/>
          <p:cNvSpPr txBox="1"/>
          <p:nvPr/>
        </p:nvSpPr>
        <p:spPr>
          <a:xfrm>
            <a:off x="1463040" y="1399032"/>
            <a:ext cx="5486400"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Quantum hardware is noisy</a:t>
            </a:r>
            <a:endParaRPr lang="en-US" sz="2000" dirty="0"/>
          </a:p>
        </p:txBody>
      </p:sp>
      <p:sp>
        <p:nvSpPr>
          <p:cNvPr id="6" name="Text 3"/>
          <p:cNvSpPr txBox="1"/>
          <p:nvPr/>
        </p:nvSpPr>
        <p:spPr>
          <a:xfrm>
            <a:off x="1463040" y="1801368"/>
            <a:ext cx="5486400" cy="731520"/>
          </a:xfrm>
          <a:prstGeom prst="rect">
            <a:avLst/>
          </a:prstGeom>
          <a:noFill/>
          <a:ln/>
        </p:spPr>
        <p:txBody>
          <a:bodyPr wrap="square" lIns="0" tIns="0" rIns="0" bIns="0" rtlCol="0" anchor="t"/>
          <a:lstStyle/>
          <a:p>
            <a:pPr indent="0" marL="0">
              <a:buNone/>
            </a:pPr>
            <a:r>
              <a:rPr lang="en-US" sz="1500" dirty="0">
                <a:solidFill>
                  <a:schemeClr val="tx2"/>
                </a:solidFill>
              </a:rPr>
              <a:t>The same circuit can return a different answer on each run, and sometimes the final decision flips.</a:t>
            </a:r>
            <a:endParaRPr lang="en-US" sz="1500" dirty="0"/>
          </a:p>
        </p:txBody>
      </p:sp>
      <p:sp>
        <p:nvSpPr>
          <p:cNvPr id="7" name="icon-circle"/>
          <p:cNvSpPr/>
          <p:nvPr/>
        </p:nvSpPr>
        <p:spPr>
          <a:xfrm>
            <a:off x="548640" y="2880360"/>
            <a:ext cx="685800" cy="685800"/>
          </a:xfrm>
          <a:prstGeom prst="ellipse">
            <a:avLst/>
          </a:prstGeom>
          <a:solidFill>
            <a:schemeClr val="accent6"/>
          </a:solidFill>
          <a:ln w="12700">
            <a:solidFill>
              <a:schemeClr val="accent6"/>
            </a:solidFill>
            <a:prstDash val="solid"/>
          </a:ln>
        </p:spPr>
      </p:sp>
      <p:pic>
        <p:nvPicPr>
          <p:cNvPr id="8" name="icon" descr="preencoded.png">    </p:cNvPr>
          <p:cNvPicPr>
            <a:picLocks noChangeAspect="1"/>
          </p:cNvPicPr>
          <p:nvPr/>
        </p:nvPicPr>
        <p:blipFill>
          <a:blip r:embed="rId2"/>
          <a:stretch>
            <a:fillRect/>
          </a:stretch>
        </p:blipFill>
        <p:spPr>
          <a:xfrm>
            <a:off x="713232" y="3044952"/>
            <a:ext cx="356616" cy="356616"/>
          </a:xfrm>
          <a:prstGeom prst="rect">
            <a:avLst/>
          </a:prstGeom>
        </p:spPr>
      </p:pic>
      <p:sp>
        <p:nvSpPr>
          <p:cNvPr id="9" name="Text 5"/>
          <p:cNvSpPr txBox="1"/>
          <p:nvPr/>
        </p:nvSpPr>
        <p:spPr>
          <a:xfrm>
            <a:off x="1463040" y="2862072"/>
            <a:ext cx="5486400"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The change is invisible</a:t>
            </a:r>
            <a:endParaRPr lang="en-US" sz="2000" dirty="0"/>
          </a:p>
        </p:txBody>
      </p:sp>
      <p:sp>
        <p:nvSpPr>
          <p:cNvPr id="10" name="Text 6"/>
          <p:cNvSpPr txBox="1"/>
          <p:nvPr/>
        </p:nvSpPr>
        <p:spPr>
          <a:xfrm>
            <a:off x="1463040" y="3264408"/>
            <a:ext cx="5486400" cy="731520"/>
          </a:xfrm>
          <a:prstGeom prst="rect">
            <a:avLst/>
          </a:prstGeom>
          <a:noFill/>
          <a:ln/>
        </p:spPr>
        <p:txBody>
          <a:bodyPr wrap="square" lIns="0" tIns="0" rIns="0" bIns="0" rtlCol="0" anchor="t"/>
          <a:lstStyle/>
          <a:p>
            <a:pPr indent="0" marL="0">
              <a:buNone/>
            </a:pPr>
            <a:r>
              <a:rPr lang="en-US" sz="1500" dirty="0">
                <a:solidFill>
                  <a:schemeClr val="tx2"/>
                </a:solidFill>
              </a:rPr>
              <a:t>A user sees one confident-looking number, not how much noise moved it.</a:t>
            </a:r>
            <a:endParaRPr lang="en-US" sz="1500" dirty="0"/>
          </a:p>
        </p:txBody>
      </p:sp>
      <p:sp>
        <p:nvSpPr>
          <p:cNvPr id="11" name="icon-circle"/>
          <p:cNvSpPr/>
          <p:nvPr/>
        </p:nvSpPr>
        <p:spPr>
          <a:xfrm>
            <a:off x="548640" y="4343400"/>
            <a:ext cx="685800" cy="685800"/>
          </a:xfrm>
          <a:prstGeom prst="ellipse">
            <a:avLst/>
          </a:prstGeom>
          <a:solidFill>
            <a:schemeClr val="accent4"/>
          </a:solidFill>
          <a:ln w="12700">
            <a:solidFill>
              <a:schemeClr val="accent4"/>
            </a:solidFill>
            <a:prstDash val="solid"/>
          </a:ln>
        </p:spPr>
      </p:sp>
      <p:pic>
        <p:nvPicPr>
          <p:cNvPr id="12" name="icon" descr="preencoded.png">    </p:cNvPr>
          <p:cNvPicPr>
            <a:picLocks noChangeAspect="1"/>
          </p:cNvPicPr>
          <p:nvPr/>
        </p:nvPicPr>
        <p:blipFill>
          <a:blip r:embed="rId3"/>
          <a:stretch>
            <a:fillRect/>
          </a:stretch>
        </p:blipFill>
        <p:spPr>
          <a:xfrm>
            <a:off x="713232" y="4507992"/>
            <a:ext cx="356616" cy="356616"/>
          </a:xfrm>
          <a:prstGeom prst="rect">
            <a:avLst/>
          </a:prstGeom>
        </p:spPr>
      </p:pic>
      <p:sp>
        <p:nvSpPr>
          <p:cNvPr id="13" name="Text 8"/>
          <p:cNvSpPr txBox="1"/>
          <p:nvPr/>
        </p:nvSpPr>
        <p:spPr>
          <a:xfrm>
            <a:off x="1463040" y="4325112"/>
            <a:ext cx="5486400" cy="36576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Fixes have a price</a:t>
            </a:r>
            <a:endParaRPr lang="en-US" sz="2000" dirty="0"/>
          </a:p>
        </p:txBody>
      </p:sp>
      <p:sp>
        <p:nvSpPr>
          <p:cNvPr id="14" name="Text 9"/>
          <p:cNvSpPr txBox="1"/>
          <p:nvPr/>
        </p:nvSpPr>
        <p:spPr>
          <a:xfrm>
            <a:off x="1463040" y="4727448"/>
            <a:ext cx="5486400" cy="731520"/>
          </a:xfrm>
          <a:prstGeom prst="rect">
            <a:avLst/>
          </a:prstGeom>
          <a:noFill/>
          <a:ln/>
        </p:spPr>
        <p:txBody>
          <a:bodyPr wrap="square" lIns="0" tIns="0" rIns="0" bIns="0" rtlCol="0" anchor="t"/>
          <a:lstStyle/>
          <a:p>
            <a:pPr indent="0" marL="0">
              <a:buNone/>
            </a:pPr>
            <a:r>
              <a:rPr lang="en-US" sz="1500" dirty="0">
                <a:solidFill>
                  <a:schemeClr val="tx2"/>
                </a:solidFill>
              </a:rPr>
              <a:t>Error mitigation needs extra measurements and can make results less stable from run to run.</a:t>
            </a:r>
            <a:endParaRPr lang="en-US" sz="1500" dirty="0"/>
          </a:p>
        </p:txBody>
      </p:sp>
      <p:sp>
        <p:nvSpPr>
          <p:cNvPr id="15" name="stat-panel"/>
          <p:cNvSpPr/>
          <p:nvPr/>
        </p:nvSpPr>
        <p:spPr>
          <a:xfrm>
            <a:off x="7498080" y="1371600"/>
            <a:ext cx="4114800" cy="4480560"/>
          </a:xfrm>
          <a:prstGeom prst="roundRect">
            <a:avLst>
              <a:gd name="adj" fmla="val 1778"/>
            </a:avLst>
          </a:prstGeom>
          <a:solidFill>
            <a:schemeClr val="tx1"/>
          </a:solidFill>
          <a:ln w="9525">
            <a:solidFill>
              <a:schemeClr val="tx1"/>
            </a:solidFill>
            <a:prstDash val="solid"/>
          </a:ln>
        </p:spPr>
      </p:sp>
      <p:sp>
        <p:nvSpPr>
          <p:cNvPr id="16" name="Text 11"/>
          <p:cNvSpPr txBox="1"/>
          <p:nvPr/>
        </p:nvSpPr>
        <p:spPr>
          <a:xfrm>
            <a:off x="7863840" y="1645920"/>
            <a:ext cx="3474720" cy="365760"/>
          </a:xfrm>
          <a:prstGeom prst="rect">
            <a:avLst/>
          </a:prstGeom>
          <a:noFill/>
          <a:ln/>
        </p:spPr>
        <p:txBody>
          <a:bodyPr wrap="square" lIns="0" tIns="0" rIns="0" bIns="0" rtlCol="0" anchor="t"/>
          <a:lstStyle/>
          <a:p>
            <a:pPr indent="0" marL="0">
              <a:buNone/>
            </a:pPr>
            <a:r>
              <a:rPr lang="en-US" sz="1400" dirty="0">
                <a:solidFill>
                  <a:srgbClr val="C9D1E3"/>
                </a:solidFill>
              </a:rPr>
              <a:t>In our own test</a:t>
            </a:r>
            <a:endParaRPr lang="en-US" sz="1400" dirty="0"/>
          </a:p>
        </p:txBody>
      </p:sp>
      <p:sp>
        <p:nvSpPr>
          <p:cNvPr id="17" name="Text 12"/>
          <p:cNvSpPr txBox="1"/>
          <p:nvPr/>
        </p:nvSpPr>
        <p:spPr>
          <a:xfrm>
            <a:off x="7863840" y="2057400"/>
            <a:ext cx="3474720" cy="1005840"/>
          </a:xfrm>
          <a:prstGeom prst="rect">
            <a:avLst/>
          </a:prstGeom>
          <a:noFill/>
          <a:ln/>
        </p:spPr>
        <p:txBody>
          <a:bodyPr wrap="square" lIns="0" tIns="0" rIns="0" bIns="0" rtlCol="0" anchor="t"/>
          <a:lstStyle/>
          <a:p>
            <a:pPr indent="0" marL="0">
              <a:buNone/>
            </a:pPr>
            <a:r>
              <a:rPr lang="en-US" sz="6600" b="1" dirty="0">
                <a:solidFill>
                  <a:srgbClr val="F08A74"/>
                </a:solidFill>
                <a:latin typeface="Cambria" pitchFamily="34" charset="0"/>
                <a:ea typeface="Cambria" pitchFamily="34" charset="-122"/>
                <a:cs typeface="Cambria" pitchFamily="34" charset="-120"/>
              </a:rPr>
              <a:t>4.7%</a:t>
            </a:r>
            <a:endParaRPr lang="en-US" sz="6600" dirty="0"/>
          </a:p>
        </p:txBody>
      </p:sp>
      <p:sp>
        <p:nvSpPr>
          <p:cNvPr id="18" name="Text 13"/>
          <p:cNvSpPr txBox="1"/>
          <p:nvPr/>
        </p:nvSpPr>
        <p:spPr>
          <a:xfrm>
            <a:off x="7863840" y="3108960"/>
            <a:ext cx="3474720" cy="640080"/>
          </a:xfrm>
          <a:prstGeom prst="rect">
            <a:avLst/>
          </a:prstGeom>
          <a:noFill/>
          <a:ln/>
        </p:spPr>
        <p:txBody>
          <a:bodyPr wrap="square" lIns="0" tIns="0" rIns="0" bIns="0" rtlCol="0" anchor="t"/>
          <a:lstStyle/>
          <a:p>
            <a:pPr indent="0" marL="0">
              <a:buNone/>
            </a:pPr>
            <a:r>
              <a:rPr lang="en-US" sz="1600" dirty="0">
                <a:solidFill>
                  <a:srgbClr val="FFFFFF"/>
                </a:solidFill>
              </a:rPr>
              <a:t>of decisions flipped at our highest noise setting</a:t>
            </a:r>
            <a:endParaRPr lang="en-US" sz="1600" dirty="0"/>
          </a:p>
        </p:txBody>
      </p:sp>
      <p:sp>
        <p:nvSpPr>
          <p:cNvPr id="19" name="Text 14"/>
          <p:cNvSpPr txBox="1"/>
          <p:nvPr/>
        </p:nvSpPr>
        <p:spPr>
          <a:xfrm>
            <a:off x="7863840" y="3977640"/>
            <a:ext cx="3474720" cy="822960"/>
          </a:xfrm>
          <a:prstGeom prst="rect">
            <a:avLst/>
          </a:prstGeom>
          <a:noFill/>
          <a:ln/>
        </p:spPr>
        <p:txBody>
          <a:bodyPr wrap="square" lIns="0" tIns="0" rIns="0" bIns="0" rtlCol="0" anchor="t"/>
          <a:lstStyle/>
          <a:p>
            <a:pPr indent="0" marL="0">
              <a:buNone/>
            </a:pPr>
            <a:r>
              <a:rPr lang="en-US" sz="1500" dirty="0">
                <a:solidFill>
                  <a:srgbClr val="C9D1E3"/>
                </a:solidFill>
              </a:rPr>
              <a:t>Mitigation cut this to 1.6%, using 3× the measurements per estimate.</a:t>
            </a:r>
            <a:endParaRPr lang="en-US" sz="1500" dirty="0"/>
          </a:p>
        </p:txBody>
      </p:sp>
      <p:sp>
        <p:nvSpPr>
          <p:cNvPr id="20" name="Text 15"/>
          <p:cNvSpPr txBox="1"/>
          <p:nvPr/>
        </p:nvSpPr>
        <p:spPr>
          <a:xfrm>
            <a:off x="7863840" y="5257800"/>
            <a:ext cx="3474720" cy="365760"/>
          </a:xfrm>
          <a:prstGeom prst="rect">
            <a:avLst/>
          </a:prstGeom>
          <a:noFill/>
          <a:ln/>
        </p:spPr>
        <p:txBody>
          <a:bodyPr wrap="square" lIns="0" tIns="0" rIns="0" bIns="0" rtlCol="0" anchor="t"/>
          <a:lstStyle/>
          <a:p>
            <a:pPr indent="0" marL="0">
              <a:buNone/>
            </a:pPr>
            <a:r>
              <a:rPr lang="en-US" sz="1100" dirty="0">
                <a:solidFill>
                  <a:srgbClr val="8EA0BF"/>
                </a:solidFill>
              </a:rPr>
              <a:t>183 held-out nodules · simulated · hypothetical noise</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QURE Lab makes quantum-model reliability measurable</a:t>
            </a:r>
            <a:endParaRPr lang="en-US" sz="3000" dirty="0"/>
          </a:p>
        </p:txBody>
      </p:sp>
      <p:sp>
        <p:nvSpPr>
          <p:cNvPr id="3" name="card"/>
          <p:cNvSpPr/>
          <p:nvPr/>
        </p:nvSpPr>
        <p:spPr>
          <a:xfrm>
            <a:off x="548640" y="1325880"/>
            <a:ext cx="11064240" cy="1234440"/>
          </a:xfrm>
          <a:prstGeom prst="roundRect">
            <a:avLst>
              <a:gd name="adj" fmla="val 5926"/>
            </a:avLst>
          </a:prstGeom>
          <a:solidFill>
            <a:schemeClr val="bg2"/>
          </a:solidFill>
          <a:ln w="9525">
            <a:solidFill>
              <a:schemeClr val="bg2"/>
            </a:solidFill>
            <a:prstDash val="solid"/>
          </a:ln>
        </p:spPr>
      </p:sp>
      <p:sp>
        <p:nvSpPr>
          <p:cNvPr id="4" name="Text 2"/>
          <p:cNvSpPr txBox="1"/>
          <p:nvPr/>
        </p:nvSpPr>
        <p:spPr>
          <a:xfrm>
            <a:off x="822960" y="1463040"/>
            <a:ext cx="10515600" cy="1005840"/>
          </a:xfrm>
          <a:prstGeom prst="rect">
            <a:avLst/>
          </a:prstGeom>
          <a:noFill/>
          <a:ln/>
        </p:spPr>
        <p:txBody>
          <a:bodyPr wrap="square" lIns="0" tIns="0" rIns="0" bIns="0" rtlCol="0" anchor="ctr"/>
          <a:lstStyle/>
          <a:p>
            <a:pPr indent="0" marL="0">
              <a:buNone/>
            </a:pPr>
            <a:r>
              <a:rPr lang="en-US" sz="1700" dirty="0">
                <a:solidFill>
                  <a:schemeClr val="tx1"/>
                </a:solidFill>
              </a:rPr>
              <a:t>A reproducible research environment that runs a 4-qubit Qiskit classifier on real lung-nodule data, under controlled noise, with and without mitigation, and compares it with classical models.</a:t>
            </a:r>
            <a:endParaRPr lang="en-US" sz="1700" dirty="0"/>
          </a:p>
        </p:txBody>
      </p:sp>
      <p:sp>
        <p:nvSpPr>
          <p:cNvPr id="5" name="card"/>
          <p:cNvSpPr/>
          <p:nvPr/>
        </p:nvSpPr>
        <p:spPr>
          <a:xfrm>
            <a:off x="548640" y="2834640"/>
            <a:ext cx="2606040" cy="3200400"/>
          </a:xfrm>
          <a:prstGeom prst="roundRect">
            <a:avLst>
              <a:gd name="adj" fmla="val 2807"/>
            </a:avLst>
          </a:prstGeom>
          <a:solidFill>
            <a:schemeClr val="bg1"/>
          </a:solidFill>
          <a:ln w="9525">
            <a:solidFill>
              <a:srgbClr val="D8DEE8"/>
            </a:solidFill>
            <a:prstDash val="solid"/>
          </a:ln>
        </p:spPr>
      </p:sp>
      <p:sp>
        <p:nvSpPr>
          <p:cNvPr id="6" name="icon-circle"/>
          <p:cNvSpPr/>
          <p:nvPr/>
        </p:nvSpPr>
        <p:spPr>
          <a:xfrm>
            <a:off x="822960" y="3063240"/>
            <a:ext cx="640080" cy="640080"/>
          </a:xfrm>
          <a:prstGeom prst="ellipse">
            <a:avLst/>
          </a:prstGeom>
          <a:solidFill>
            <a:schemeClr val="accent1"/>
          </a:solidFill>
          <a:ln w="12700">
            <a:solidFill>
              <a:schemeClr val="accent1"/>
            </a:solidFill>
            <a:prstDash val="solid"/>
          </a:ln>
        </p:spPr>
      </p:sp>
      <p:pic>
        <p:nvPicPr>
          <p:cNvPr id="7" name="icon" descr="preencoded.png">    </p:cNvPr>
          <p:cNvPicPr>
            <a:picLocks noChangeAspect="1"/>
          </p:cNvPicPr>
          <p:nvPr/>
        </p:nvPicPr>
        <p:blipFill>
          <a:blip r:embed="rId1"/>
          <a:stretch>
            <a:fillRect/>
          </a:stretch>
        </p:blipFill>
        <p:spPr>
          <a:xfrm>
            <a:off x="976579" y="3216859"/>
            <a:ext cx="332842" cy="332842"/>
          </a:xfrm>
          <a:prstGeom prst="rect">
            <a:avLst/>
          </a:prstGeom>
        </p:spPr>
      </p:pic>
      <p:sp>
        <p:nvSpPr>
          <p:cNvPr id="8" name="Text 5"/>
          <p:cNvSpPr txBox="1"/>
          <p:nvPr/>
        </p:nvSpPr>
        <p:spPr>
          <a:xfrm>
            <a:off x="822960" y="3840480"/>
            <a:ext cx="2103120" cy="6400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Impact</a:t>
            </a:r>
            <a:endParaRPr lang="en-US" sz="1800" dirty="0"/>
          </a:p>
        </p:txBody>
      </p:sp>
      <p:sp>
        <p:nvSpPr>
          <p:cNvPr id="9" name="Text 6"/>
          <p:cNvSpPr txBox="1"/>
          <p:nvPr/>
        </p:nvSpPr>
        <p:spPr>
          <a:xfrm>
            <a:off x="822960" y="4526280"/>
            <a:ext cx="2103120" cy="1371600"/>
          </a:xfrm>
          <a:prstGeom prst="rect">
            <a:avLst/>
          </a:prstGeom>
          <a:noFill/>
          <a:ln/>
        </p:spPr>
        <p:txBody>
          <a:bodyPr wrap="square" lIns="0" tIns="0" rIns="0" bIns="0" rtlCol="0" anchor="t"/>
          <a:lstStyle/>
          <a:p>
            <a:pPr indent="0" marL="0">
              <a:buNone/>
            </a:pPr>
            <a:r>
              <a:rPr lang="en-US" sz="1400" dirty="0">
                <a:solidFill>
                  <a:schemeClr val="tx2"/>
                </a:solidFill>
              </a:rPr>
              <a:t>Shows researchers when a quantum answer can be relied on, and what reliability costs.</a:t>
            </a:r>
            <a:endParaRPr lang="en-US" sz="1400" dirty="0"/>
          </a:p>
        </p:txBody>
      </p:sp>
      <p:sp>
        <p:nvSpPr>
          <p:cNvPr id="10" name="card"/>
          <p:cNvSpPr/>
          <p:nvPr/>
        </p:nvSpPr>
        <p:spPr>
          <a:xfrm>
            <a:off x="3383280" y="2834640"/>
            <a:ext cx="2606040" cy="3200400"/>
          </a:xfrm>
          <a:prstGeom prst="roundRect">
            <a:avLst>
              <a:gd name="adj" fmla="val 2807"/>
            </a:avLst>
          </a:prstGeom>
          <a:solidFill>
            <a:schemeClr val="bg1"/>
          </a:solidFill>
          <a:ln w="9525">
            <a:solidFill>
              <a:srgbClr val="D8DEE8"/>
            </a:solidFill>
            <a:prstDash val="solid"/>
          </a:ln>
        </p:spPr>
      </p:sp>
      <p:sp>
        <p:nvSpPr>
          <p:cNvPr id="11" name="icon-circle"/>
          <p:cNvSpPr/>
          <p:nvPr/>
        </p:nvSpPr>
        <p:spPr>
          <a:xfrm>
            <a:off x="3657600" y="3063240"/>
            <a:ext cx="640080" cy="640080"/>
          </a:xfrm>
          <a:prstGeom prst="ellipse">
            <a:avLst/>
          </a:prstGeom>
          <a:solidFill>
            <a:schemeClr val="accent2"/>
          </a:solidFill>
          <a:ln w="12700">
            <a:solidFill>
              <a:schemeClr val="accent2"/>
            </a:solidFill>
            <a:prstDash val="solid"/>
          </a:ln>
        </p:spPr>
      </p:sp>
      <p:pic>
        <p:nvPicPr>
          <p:cNvPr id="12" name="icon" descr="preencoded.png">    </p:cNvPr>
          <p:cNvPicPr>
            <a:picLocks noChangeAspect="1"/>
          </p:cNvPicPr>
          <p:nvPr/>
        </p:nvPicPr>
        <p:blipFill>
          <a:blip r:embed="rId2"/>
          <a:stretch>
            <a:fillRect/>
          </a:stretch>
        </p:blipFill>
        <p:spPr>
          <a:xfrm>
            <a:off x="3811219" y="3216859"/>
            <a:ext cx="332842" cy="332842"/>
          </a:xfrm>
          <a:prstGeom prst="rect">
            <a:avLst/>
          </a:prstGeom>
        </p:spPr>
      </p:pic>
      <p:sp>
        <p:nvSpPr>
          <p:cNvPr id="13" name="Text 9"/>
          <p:cNvSpPr txBox="1"/>
          <p:nvPr/>
        </p:nvSpPr>
        <p:spPr>
          <a:xfrm>
            <a:off x="3657600" y="3840480"/>
            <a:ext cx="2103120" cy="6400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Noise and data constraints</a:t>
            </a:r>
            <a:endParaRPr lang="en-US" sz="1800" dirty="0"/>
          </a:p>
        </p:txBody>
      </p:sp>
      <p:sp>
        <p:nvSpPr>
          <p:cNvPr id="14" name="Text 10"/>
          <p:cNvSpPr txBox="1"/>
          <p:nvPr/>
        </p:nvSpPr>
        <p:spPr>
          <a:xfrm>
            <a:off x="3657600" y="4526280"/>
            <a:ext cx="2103120" cy="1371600"/>
          </a:xfrm>
          <a:prstGeom prst="rect">
            <a:avLst/>
          </a:prstGeom>
          <a:noFill/>
          <a:ln/>
        </p:spPr>
        <p:txBody>
          <a:bodyPr wrap="square" lIns="0" tIns="0" rIns="0" bIns="0" rtlCol="0" anchor="t"/>
          <a:lstStyle/>
          <a:p>
            <a:pPr indent="0" marL="0">
              <a:buNone/>
            </a:pPr>
            <a:r>
              <a:rPr lang="en-US" sz="1400" dirty="0">
                <a:solidFill>
                  <a:schemeClr val="tx2"/>
                </a:solidFill>
              </a:rPr>
              <a:t>5 noise levels × 5 runs, equal-shot comparisons, patient-level split, honest labels.</a:t>
            </a:r>
            <a:endParaRPr lang="en-US" sz="1400" dirty="0"/>
          </a:p>
        </p:txBody>
      </p:sp>
      <p:sp>
        <p:nvSpPr>
          <p:cNvPr id="15" name="card"/>
          <p:cNvSpPr/>
          <p:nvPr/>
        </p:nvSpPr>
        <p:spPr>
          <a:xfrm>
            <a:off x="6217920" y="2834640"/>
            <a:ext cx="2606040" cy="3200400"/>
          </a:xfrm>
          <a:prstGeom prst="roundRect">
            <a:avLst>
              <a:gd name="adj" fmla="val 2807"/>
            </a:avLst>
          </a:prstGeom>
          <a:solidFill>
            <a:schemeClr val="bg1"/>
          </a:solidFill>
          <a:ln w="9525">
            <a:solidFill>
              <a:srgbClr val="D8DEE8"/>
            </a:solidFill>
            <a:prstDash val="solid"/>
          </a:ln>
        </p:spPr>
      </p:sp>
      <p:sp>
        <p:nvSpPr>
          <p:cNvPr id="16" name="icon-circle"/>
          <p:cNvSpPr/>
          <p:nvPr/>
        </p:nvSpPr>
        <p:spPr>
          <a:xfrm>
            <a:off x="6492240" y="3063240"/>
            <a:ext cx="640080" cy="640080"/>
          </a:xfrm>
          <a:prstGeom prst="ellipse">
            <a:avLst/>
          </a:prstGeom>
          <a:solidFill>
            <a:schemeClr val="accent3"/>
          </a:solidFill>
          <a:ln w="12700">
            <a:solidFill>
              <a:schemeClr val="accent3"/>
            </a:solidFill>
            <a:prstDash val="solid"/>
          </a:ln>
        </p:spPr>
      </p:sp>
      <p:pic>
        <p:nvPicPr>
          <p:cNvPr id="17" name="icon" descr="preencoded.png">    </p:cNvPr>
          <p:cNvPicPr>
            <a:picLocks noChangeAspect="1"/>
          </p:cNvPicPr>
          <p:nvPr/>
        </p:nvPicPr>
        <p:blipFill>
          <a:blip r:embed="rId3"/>
          <a:stretch>
            <a:fillRect/>
          </a:stretch>
        </p:blipFill>
        <p:spPr>
          <a:xfrm>
            <a:off x="6645859" y="3216859"/>
            <a:ext cx="332842" cy="332842"/>
          </a:xfrm>
          <a:prstGeom prst="rect">
            <a:avLst/>
          </a:prstGeom>
        </p:spPr>
      </p:pic>
      <p:sp>
        <p:nvSpPr>
          <p:cNvPr id="18" name="Text 13"/>
          <p:cNvSpPr txBox="1"/>
          <p:nvPr/>
        </p:nvSpPr>
        <p:spPr>
          <a:xfrm>
            <a:off x="6492240" y="3840480"/>
            <a:ext cx="2103120" cy="6400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Implementation fidelity</a:t>
            </a:r>
            <a:endParaRPr lang="en-US" sz="1800" dirty="0"/>
          </a:p>
        </p:txBody>
      </p:sp>
      <p:sp>
        <p:nvSpPr>
          <p:cNvPr id="19" name="Text 14"/>
          <p:cNvSpPr txBox="1"/>
          <p:nvPr/>
        </p:nvSpPr>
        <p:spPr>
          <a:xfrm>
            <a:off x="6492240" y="4526280"/>
            <a:ext cx="2103120" cy="1371600"/>
          </a:xfrm>
          <a:prstGeom prst="rect">
            <a:avLst/>
          </a:prstGeom>
          <a:noFill/>
          <a:ln/>
        </p:spPr>
        <p:txBody>
          <a:bodyPr wrap="square" lIns="0" tIns="0" rIns="0" bIns="0" rtlCol="0" anchor="t"/>
          <a:lstStyle/>
          <a:p>
            <a:pPr indent="0" marL="0">
              <a:buNone/>
            </a:pPr>
            <a:r>
              <a:rPr lang="en-US" sz="1400" dirty="0">
                <a:solidFill>
                  <a:schemeClr val="tx2"/>
                </a:solidFill>
              </a:rPr>
              <a:t>Real Qiskit circuits, frozen test protocol, 13 automated tests, traceable outputs.</a:t>
            </a:r>
            <a:endParaRPr lang="en-US" sz="1400" dirty="0"/>
          </a:p>
        </p:txBody>
      </p:sp>
      <p:sp>
        <p:nvSpPr>
          <p:cNvPr id="20" name="card"/>
          <p:cNvSpPr/>
          <p:nvPr/>
        </p:nvSpPr>
        <p:spPr>
          <a:xfrm>
            <a:off x="9052560" y="2834640"/>
            <a:ext cx="2606040" cy="3200400"/>
          </a:xfrm>
          <a:prstGeom prst="roundRect">
            <a:avLst>
              <a:gd name="adj" fmla="val 2807"/>
            </a:avLst>
          </a:prstGeom>
          <a:solidFill>
            <a:schemeClr val="bg1"/>
          </a:solidFill>
          <a:ln w="9525">
            <a:solidFill>
              <a:srgbClr val="D8DEE8"/>
            </a:solidFill>
            <a:prstDash val="solid"/>
          </a:ln>
        </p:spPr>
      </p:sp>
      <p:sp>
        <p:nvSpPr>
          <p:cNvPr id="21" name="icon-circle"/>
          <p:cNvSpPr/>
          <p:nvPr/>
        </p:nvSpPr>
        <p:spPr>
          <a:xfrm>
            <a:off x="9326880" y="3063240"/>
            <a:ext cx="640080" cy="640080"/>
          </a:xfrm>
          <a:prstGeom prst="ellipse">
            <a:avLst/>
          </a:prstGeom>
          <a:solidFill>
            <a:schemeClr val="accent5"/>
          </a:solidFill>
          <a:ln w="12700">
            <a:solidFill>
              <a:schemeClr val="accent5"/>
            </a:solidFill>
            <a:prstDash val="solid"/>
          </a:ln>
        </p:spPr>
      </p:sp>
      <p:pic>
        <p:nvPicPr>
          <p:cNvPr id="22" name="icon" descr="preencoded.png">    </p:cNvPr>
          <p:cNvPicPr>
            <a:picLocks noChangeAspect="1"/>
          </p:cNvPicPr>
          <p:nvPr/>
        </p:nvPicPr>
        <p:blipFill>
          <a:blip r:embed="rId4"/>
          <a:stretch>
            <a:fillRect/>
          </a:stretch>
        </p:blipFill>
        <p:spPr>
          <a:xfrm>
            <a:off x="9480499" y="3216859"/>
            <a:ext cx="332842" cy="332842"/>
          </a:xfrm>
          <a:prstGeom prst="rect">
            <a:avLst/>
          </a:prstGeom>
        </p:spPr>
      </p:pic>
      <p:sp>
        <p:nvSpPr>
          <p:cNvPr id="23" name="Text 17"/>
          <p:cNvSpPr txBox="1"/>
          <p:nvPr/>
        </p:nvSpPr>
        <p:spPr>
          <a:xfrm>
            <a:off x="9326880" y="3840480"/>
            <a:ext cx="2103120" cy="6400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Feasibility</a:t>
            </a:r>
            <a:endParaRPr lang="en-US" sz="1800" dirty="0"/>
          </a:p>
        </p:txBody>
      </p:sp>
      <p:sp>
        <p:nvSpPr>
          <p:cNvPr id="24" name="Text 18"/>
          <p:cNvSpPr txBox="1"/>
          <p:nvPr/>
        </p:nvSpPr>
        <p:spPr>
          <a:xfrm>
            <a:off x="9326880" y="4526280"/>
            <a:ext cx="2103120" cy="1371600"/>
          </a:xfrm>
          <a:prstGeom prst="rect">
            <a:avLst/>
          </a:prstGeom>
          <a:noFill/>
          <a:ln/>
        </p:spPr>
        <p:txBody>
          <a:bodyPr wrap="square" lIns="0" tIns="0" rIns="0" bIns="0" rtlCol="0" anchor="t"/>
          <a:lstStyle/>
          <a:p>
            <a:pPr indent="0" marL="0">
              <a:buNone/>
            </a:pPr>
            <a:r>
              <a:rPr lang="en-US" sz="1400" dirty="0">
                <a:solidFill>
                  <a:schemeClr val="tx2"/>
                </a:solidFill>
              </a:rPr>
              <a:t>4 qubits, laptop or Colab, no quantum hardware needed, offline-ready website.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What prior research says, and how we use it</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743200"/>
                <a:gridCol w="4389120"/>
                <a:gridCol w="3931920"/>
              </a:tblGrid>
              <a:tr h="566928">
                <a:tc>
                  <a:txBody>
                    <a:bodyPr/>
                    <a:lstStyle/>
                    <a:p>
                      <a:pPr indent="0" marL="0">
                        <a:buNone/>
                      </a:pPr>
                      <a:r>
                        <a:rPr lang="en-US" sz="1400" b="1" dirty="0">
                          <a:solidFill>
                            <a:srgbClr val="FFFFFF"/>
                          </a:solidFill>
                        </a:rPr>
                        <a:t>Source</a:t>
                      </a:r>
                      <a:endParaRPr lang="en-US" sz="1400" dirty="0"/>
                    </a:p>
                  </a:txBody>
                  <a:tcPr marL="73152" marR="73152" marT="73152" marB="7315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13213A"/>
                    </a:solidFill>
                  </a:tcPr>
                </a:tc>
                <a:tc>
                  <a:txBody>
                    <a:bodyPr/>
                    <a:lstStyle/>
                    <a:p>
                      <a:pPr indent="0" marL="0">
                        <a:buNone/>
                      </a:pPr>
                      <a:r>
                        <a:rPr lang="en-US" sz="1400" b="1" dirty="0">
                          <a:solidFill>
                            <a:srgbClr val="FFFFFF"/>
                          </a:solidFill>
                        </a:rPr>
                        <a:t>Finding</a:t>
                      </a:r>
                      <a:endParaRPr lang="en-US" sz="1400" dirty="0"/>
                    </a:p>
                  </a:txBody>
                  <a:tcPr marL="73152" marR="73152" marT="73152" marB="7315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13213A"/>
                    </a:solidFill>
                  </a:tcPr>
                </a:tc>
                <a:tc>
                  <a:txBody>
                    <a:bodyPr/>
                    <a:lstStyle/>
                    <a:p>
                      <a:pPr indent="0" marL="0">
                        <a:buNone/>
                      </a:pPr>
                      <a:r>
                        <a:rPr lang="en-US" sz="1400" b="1" dirty="0">
                          <a:solidFill>
                            <a:srgbClr val="FFFFFF"/>
                          </a:solidFill>
                        </a:rPr>
                        <a:t>How QURE Lab uses it</a:t>
                      </a:r>
                      <a:endParaRPr lang="en-US" sz="1400" dirty="0"/>
                    </a:p>
                  </a:txBody>
                  <a:tcPr marL="73152" marR="73152" marT="73152" marB="7315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13213A"/>
                    </a:solidFill>
                  </a:tcPr>
                </a:tc>
              </a:tr>
              <a:tr h="566928">
                <a:tc>
                  <a:txBody>
                    <a:bodyPr/>
                    <a:lstStyle/>
                    <a:p>
                      <a:pPr indent="0" marL="0">
                        <a:buNone/>
                      </a:pPr>
                      <a:r>
                        <a:rPr lang="en-US" sz="1300" b="1" dirty="0">
                          <a:solidFill>
                            <a:srgbClr val="13213A"/>
                          </a:solidFill>
                        </a:rPr>
                        <a:t>Temme, Bravyi &amp; Gambetta (2017)</a:t>
                      </a:r>
                      <a:endParaRPr lang="en-US" sz="1300" dirty="0"/>
                    </a:p>
                  </a:txBody>
                  <a:tcPr marL="73152" marR="73152" marT="73152" marB="7315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3F5F9"/>
                    </a:solidFill>
                  </a:tcPr>
                </a:tc>
                <a:tc>
                  <a:txBody>
                    <a:bodyPr/>
                    <a:lstStyle/>
                    <a:p>
                      <a:pPr indent="0" marL="0">
                        <a:buNone/>
                      </a:pPr>
                      <a:r>
                        <a:rPr lang="en-US" sz="1300" dirty="0">
                          <a:solidFill>
                            <a:srgbClr val="13213A"/>
                          </a:solidFill>
                        </a:rPr>
                        <a:t>Error mitigation can reduce noise in short circuits without extra qubits</a:t>
                      </a:r>
                      <a:endParaRPr lang="en-US" sz="1300" dirty="0"/>
                    </a:p>
                  </a:txBody>
                  <a:tcPr marL="73152" marR="73152" marT="73152" marB="7315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3F5F9"/>
                    </a:solidFill>
                  </a:tcPr>
                </a:tc>
                <a:tc>
                  <a:txBody>
                    <a:bodyPr/>
                    <a:lstStyle/>
                    <a:p>
                      <a:pPr indent="0" marL="0">
                        <a:buNone/>
                      </a:pPr>
                      <a:r>
                        <a:rPr lang="en-US" sz="1300" dirty="0">
                          <a:solidFill>
                            <a:srgbClr val="13213A"/>
                          </a:solidFill>
                        </a:rPr>
                        <a:t>Basis for mitigating noisy outputs; zero-noise extrapolation is our next step</a:t>
                      </a:r>
                      <a:endParaRPr lang="en-US" sz="1300" dirty="0"/>
                    </a:p>
                  </a:txBody>
                  <a:tcPr marL="73152" marR="73152" marT="73152" marB="7315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3F5F9"/>
                    </a:solidFill>
                  </a:tcPr>
                </a:tc>
              </a:tr>
              <a:tr h="566928">
                <a:tc>
                  <a:txBody>
                    <a:bodyPr/>
                    <a:lstStyle/>
                    <a:p>
                      <a:pPr indent="0" marL="0">
                        <a:buNone/>
                      </a:pPr>
                      <a:r>
                        <a:rPr lang="en-US" sz="1300" b="1" dirty="0">
                          <a:solidFill>
                            <a:srgbClr val="13213A"/>
                          </a:solidFill>
                        </a:rPr>
                        <a:t>IBM Quantum documentation</a:t>
                      </a:r>
                      <a:endParaRPr lang="en-US" sz="1300" dirty="0"/>
                    </a:p>
                  </a:txBody>
                  <a:tcPr marL="73152" marR="73152" marT="73152" marB="7315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indent="0" marL="0">
                        <a:buNone/>
                      </a:pPr>
                      <a:r>
                        <a:rPr lang="en-US" sz="1300" dirty="0">
                          <a:solidFill>
                            <a:srgbClr val="13213A"/>
                          </a:solidFill>
                        </a:rPr>
                        <a:t>Readout mitigation fixes measurement errors only; mitigation is not error correction</a:t>
                      </a:r>
                      <a:endParaRPr lang="en-US" sz="1300" dirty="0"/>
                    </a:p>
                  </a:txBody>
                  <a:tcPr marL="73152" marR="73152" marT="73152" marB="7315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indent="0" marL="0">
                        <a:buNone/>
                      </a:pPr>
                      <a:r>
                        <a:rPr lang="en-US" sz="1300" dirty="0">
                          <a:solidFill>
                            <a:srgbClr val="13213A"/>
                          </a:solidFill>
                        </a:rPr>
                        <a:t>Our tensored readout mitigation, with its scope stated plainly</a:t>
                      </a:r>
                      <a:endParaRPr lang="en-US" sz="1300" dirty="0"/>
                    </a:p>
                  </a:txBody>
                  <a:tcPr marL="73152" marR="73152" marT="73152" marB="7315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3213A"/>
                          </a:solidFill>
                        </a:rPr>
                        <a:t>Bowles, Ahmed &amp; Schuld (2024)</a:t>
                      </a:r>
                      <a:endParaRPr lang="en-US" sz="1300" dirty="0"/>
                    </a:p>
                  </a:txBody>
                  <a:tcPr marL="73152" marR="73152" marT="73152" marB="7315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3F5F9"/>
                    </a:solidFill>
                  </a:tcPr>
                </a:tc>
                <a:tc>
                  <a:txBody>
                    <a:bodyPr/>
                    <a:lstStyle/>
                    <a:p>
                      <a:pPr indent="0" marL="0">
                        <a:buNone/>
                      </a:pPr>
                      <a:r>
                        <a:rPr lang="en-US" sz="1300" dirty="0">
                          <a:solidFill>
                            <a:srgbClr val="13213A"/>
                          </a:solidFill>
                        </a:rPr>
                        <a:t>Simple classical models often match or beat small quantum classifiers</a:t>
                      </a:r>
                      <a:endParaRPr lang="en-US" sz="1300" dirty="0"/>
                    </a:p>
                  </a:txBody>
                  <a:tcPr marL="73152" marR="73152" marT="73152" marB="7315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3F5F9"/>
                    </a:solidFill>
                  </a:tcPr>
                </a:tc>
                <a:tc>
                  <a:txBody>
                    <a:bodyPr/>
                    <a:lstStyle/>
                    <a:p>
                      <a:pPr indent="0" marL="0">
                        <a:buNone/>
                      </a:pPr>
                      <a:r>
                        <a:rPr lang="en-US" sz="1300" dirty="0">
                          <a:solidFill>
                            <a:srgbClr val="13213A"/>
                          </a:solidFill>
                        </a:rPr>
                        <a:t>Every quantum result is shown next to a classical baseline; no advantage claimed</a:t>
                      </a:r>
                      <a:endParaRPr lang="en-US" sz="1300" dirty="0"/>
                    </a:p>
                  </a:txBody>
                  <a:tcPr marL="73152" marR="73152" marT="73152" marB="7315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3F5F9"/>
                    </a:solidFill>
                  </a:tcPr>
                </a:tc>
              </a:tr>
              <a:tr h="566928">
                <a:tc>
                  <a:txBody>
                    <a:bodyPr/>
                    <a:lstStyle/>
                    <a:p>
                      <a:pPr indent="0" marL="0">
                        <a:buNone/>
                      </a:pPr>
                      <a:r>
                        <a:rPr lang="en-US" sz="1300" b="1" dirty="0">
                          <a:solidFill>
                            <a:srgbClr val="13213A"/>
                          </a:solidFill>
                        </a:rPr>
                        <a:t>Armato et al. (2011), LIDC-IDRI</a:t>
                      </a:r>
                      <a:endParaRPr lang="en-US" sz="1300" dirty="0"/>
                    </a:p>
                  </a:txBody>
                  <a:tcPr marL="73152" marR="73152" marT="73152" marB="7315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indent="0" marL="0">
                        <a:buNone/>
                      </a:pPr>
                      <a:r>
                        <a:rPr lang="en-US" sz="1300" dirty="0">
                          <a:solidFill>
                            <a:srgbClr val="13213A"/>
                          </a:solidFill>
                        </a:rPr>
                        <a:t>1,018 lung CT scans from 1,010 patients, nodules marked by up to 4 radiologists</a:t>
                      </a:r>
                      <a:endParaRPr lang="en-US" sz="1300" dirty="0"/>
                    </a:p>
                  </a:txBody>
                  <a:tcPr marL="73152" marR="73152" marT="73152" marB="7315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indent="0" marL="0">
                        <a:buNone/>
                      </a:pPr>
                      <a:r>
                        <a:rPr lang="en-US" sz="1300" dirty="0">
                          <a:solidFill>
                            <a:srgbClr val="13213A"/>
                          </a:solidFill>
                        </a:rPr>
                        <a:t>Our data source (radiologist annotations only)</a:t>
                      </a:r>
                      <a:endParaRPr lang="en-US" sz="1300" dirty="0"/>
                    </a:p>
                  </a:txBody>
                  <a:tcPr marL="73152" marR="73152" marT="73152" marB="7315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r>
              <a:tr h="566928">
                <a:tc>
                  <a:txBody>
                    <a:bodyPr/>
                    <a:lstStyle/>
                    <a:p>
                      <a:pPr indent="0" marL="0">
                        <a:buNone/>
                      </a:pPr>
                      <a:r>
                        <a:rPr lang="en-US" sz="1300" b="1" dirty="0">
                          <a:solidFill>
                            <a:srgbClr val="13213A"/>
                          </a:solidFill>
                        </a:rPr>
                        <a:t>pylidc (Hancock &amp; Magnan)</a:t>
                      </a:r>
                      <a:endParaRPr lang="en-US" sz="1300" dirty="0"/>
                    </a:p>
                  </a:txBody>
                  <a:tcPr marL="73152" marR="73152" marT="73152" marB="7315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3F5F9"/>
                    </a:solidFill>
                  </a:tcPr>
                </a:tc>
                <a:tc>
                  <a:txBody>
                    <a:bodyPr/>
                    <a:lstStyle/>
                    <a:p>
                      <a:pPr indent="0" marL="0">
                        <a:buNone/>
                      </a:pPr>
                      <a:r>
                        <a:rPr lang="en-US" sz="1300" dirty="0">
                          <a:solidFill>
                            <a:srgbClr val="13213A"/>
                          </a:solidFill>
                        </a:rPr>
                        <a:t>Programmatic access to LIDC annotations and nodule grouping</a:t>
                      </a:r>
                      <a:endParaRPr lang="en-US" sz="1300" dirty="0"/>
                    </a:p>
                  </a:txBody>
                  <a:tcPr marL="73152" marR="73152" marT="73152" marB="7315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3F5F9"/>
                    </a:solidFill>
                  </a:tcPr>
                </a:tc>
                <a:tc>
                  <a:txBody>
                    <a:bodyPr/>
                    <a:lstStyle/>
                    <a:p>
                      <a:pPr indent="0" marL="0">
                        <a:buNone/>
                      </a:pPr>
                      <a:r>
                        <a:rPr lang="en-US" sz="1300" dirty="0">
                          <a:solidFill>
                            <a:srgbClr val="13213A"/>
                          </a:solidFill>
                        </a:rPr>
                        <a:t>Builds our dataset without downloading CT images</a:t>
                      </a:r>
                      <a:endParaRPr lang="en-US" sz="1300" dirty="0"/>
                    </a:p>
                  </a:txBody>
                  <a:tcPr marL="73152" marR="73152" marT="73152" marB="7315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3F5F9"/>
                    </a:solidFill>
                  </a:tcPr>
                </a:tc>
              </a:tr>
              <a:tr h="566928">
                <a:tc>
                  <a:txBody>
                    <a:bodyPr/>
                    <a:lstStyle/>
                    <a:p>
                      <a:pPr indent="0" marL="0">
                        <a:buNone/>
                      </a:pPr>
                      <a:r>
                        <a:rPr lang="en-US" sz="1300" b="1" dirty="0">
                          <a:solidFill>
                            <a:srgbClr val="13213A"/>
                          </a:solidFill>
                        </a:rPr>
                        <a:t>scikit-learn calibration guide</a:t>
                      </a:r>
                      <a:endParaRPr lang="en-US" sz="1300" dirty="0"/>
                    </a:p>
                  </a:txBody>
                  <a:tcPr marL="73152" marR="73152" marT="73152" marB="7315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indent="0" marL="0">
                        <a:buNone/>
                      </a:pPr>
                      <a:r>
                        <a:rPr lang="en-US" sz="1300" dirty="0">
                          <a:solidFill>
                            <a:srgbClr val="13213A"/>
                          </a:solidFill>
                        </a:rPr>
                        <a:t>Raw model scores are not probabilities; calibrate on held-out data</a:t>
                      </a:r>
                      <a:endParaRPr lang="en-US" sz="1300" dirty="0"/>
                    </a:p>
                  </a:txBody>
                  <a:tcPr marL="73152" marR="73152" marT="73152" marB="7315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c>
                  <a:txBody>
                    <a:bodyPr/>
                    <a:lstStyle/>
                    <a:p>
                      <a:pPr indent="0" marL="0">
                        <a:buNone/>
                      </a:pPr>
                      <a:r>
                        <a:rPr lang="en-US" sz="1300" dirty="0">
                          <a:solidFill>
                            <a:srgbClr val="13213A"/>
                          </a:solidFill>
                        </a:rPr>
                        <a:t>Calibration fitted on the validation split only</a:t>
                      </a:r>
                      <a:endParaRPr lang="en-US" sz="1300" dirty="0"/>
                    </a:p>
                  </a:txBody>
                  <a:tcPr marL="73152" marR="73152" marT="73152" marB="73152" anchor="ctr">
                    <a:lnL w="6350" cap="flat" cmpd="sng" algn="ctr">
                      <a:solidFill>
                        <a:srgbClr val="D8DEE8"/>
                      </a:solidFill>
                      <a:prstDash val="solid"/>
                      <a:round/>
                      <a:headEnd type="none" w="med" len="med"/>
                      <a:tailEnd type="none" w="med" len="med"/>
                    </a:lnL>
                    <a:lnR w="6350" cap="flat" cmpd="sng" algn="ctr">
                      <a:solidFill>
                        <a:srgbClr val="D8DEE8"/>
                      </a:solidFill>
                      <a:prstDash val="solid"/>
                      <a:round/>
                      <a:headEnd type="none" w="med" len="med"/>
                      <a:tailEnd type="none" w="med" len="med"/>
                    </a:lnR>
                    <a:lnT w="6350" cap="flat" cmpd="sng" algn="ctr">
                      <a:solidFill>
                        <a:srgbClr val="D8DEE8"/>
                      </a:solidFill>
                      <a:prstDash val="solid"/>
                      <a:round/>
                      <a:headEnd type="none" w="med" len="med"/>
                      <a:tailEnd type="none" w="med" len="med"/>
                    </a:lnT>
                    <a:lnB w="6350" cap="flat" cmpd="sng" algn="ctr">
                      <a:solidFill>
                        <a:srgbClr val="D8DEE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Data from 1,010 patients, read by up to 4 radiologists each</a:t>
            </a:r>
            <a:endParaRPr lang="en-US" sz="3000" dirty="0"/>
          </a:p>
        </p:txBody>
      </p:sp>
      <p:sp>
        <p:nvSpPr>
          <p:cNvPr id="3" name="Text 1"/>
          <p:cNvSpPr txBox="1"/>
          <p:nvPr/>
        </p:nvSpPr>
        <p:spPr>
          <a:xfrm>
            <a:off x="548640" y="1371600"/>
            <a:ext cx="1417320" cy="64008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1,010</a:t>
            </a:r>
            <a:endParaRPr lang="en-US" sz="3000" dirty="0"/>
          </a:p>
        </p:txBody>
      </p:sp>
      <p:sp>
        <p:nvSpPr>
          <p:cNvPr id="4" name="Text 2"/>
          <p:cNvSpPr txBox="1"/>
          <p:nvPr/>
        </p:nvSpPr>
        <p:spPr>
          <a:xfrm>
            <a:off x="548640" y="2011680"/>
            <a:ext cx="1371600" cy="548640"/>
          </a:xfrm>
          <a:prstGeom prst="rect">
            <a:avLst/>
          </a:prstGeom>
          <a:noFill/>
          <a:ln/>
        </p:spPr>
        <p:txBody>
          <a:bodyPr wrap="square" lIns="0" tIns="0" rIns="0" bIns="0" rtlCol="0" anchor="t"/>
          <a:lstStyle/>
          <a:p>
            <a:pPr indent="0" marL="0">
              <a:buNone/>
            </a:pPr>
            <a:r>
              <a:rPr lang="en-US" sz="1200" dirty="0">
                <a:solidFill>
                  <a:schemeClr val="tx2"/>
                </a:solidFill>
              </a:rPr>
              <a:t>patients in LIDC-IDRI</a:t>
            </a:r>
            <a:endParaRPr lang="en-US" sz="1200" dirty="0"/>
          </a:p>
        </p:txBody>
      </p:sp>
      <p:sp>
        <p:nvSpPr>
          <p:cNvPr id="5" name="Text 3"/>
          <p:cNvSpPr txBox="1"/>
          <p:nvPr/>
        </p:nvSpPr>
        <p:spPr>
          <a:xfrm>
            <a:off x="2011680" y="1371600"/>
            <a:ext cx="1417320" cy="640080"/>
          </a:xfrm>
          <a:prstGeom prst="rect">
            <a:avLst/>
          </a:prstGeom>
          <a:noFill/>
          <a:ln/>
        </p:spPr>
        <p:txBody>
          <a:bodyPr wrap="square" lIns="0" tIns="0" rIns="0" bIns="0" rtlCol="0" anchor="t"/>
          <a:lstStyle/>
          <a:p>
            <a:pPr indent="0" marL="0">
              <a:buNone/>
            </a:pPr>
            <a:r>
              <a:rPr lang="en-US" sz="3000" b="1" dirty="0">
                <a:solidFill>
                  <a:schemeClr val="tx1"/>
                </a:solidFill>
                <a:latin typeface="Cambria" pitchFamily="34" charset="0"/>
                <a:ea typeface="Cambria" pitchFamily="34" charset="-122"/>
                <a:cs typeface="Cambria" pitchFamily="34" charset="-120"/>
              </a:rPr>
              <a:t>1,018</a:t>
            </a:r>
            <a:endParaRPr lang="en-US" sz="3000" dirty="0"/>
          </a:p>
        </p:txBody>
      </p:sp>
      <p:sp>
        <p:nvSpPr>
          <p:cNvPr id="6" name="Text 4"/>
          <p:cNvSpPr txBox="1"/>
          <p:nvPr/>
        </p:nvSpPr>
        <p:spPr>
          <a:xfrm>
            <a:off x="2011680" y="2011680"/>
            <a:ext cx="1371600" cy="548640"/>
          </a:xfrm>
          <a:prstGeom prst="rect">
            <a:avLst/>
          </a:prstGeom>
          <a:noFill/>
          <a:ln/>
        </p:spPr>
        <p:txBody>
          <a:bodyPr wrap="square" lIns="0" tIns="0" rIns="0" bIns="0" rtlCol="0" anchor="t"/>
          <a:lstStyle/>
          <a:p>
            <a:pPr indent="0" marL="0">
              <a:buNone/>
            </a:pPr>
            <a:r>
              <a:rPr lang="en-US" sz="1200" dirty="0">
                <a:solidFill>
                  <a:schemeClr val="tx2"/>
                </a:solidFill>
              </a:rPr>
              <a:t>CT scans</a:t>
            </a:r>
            <a:endParaRPr lang="en-US" sz="1200" dirty="0"/>
          </a:p>
        </p:txBody>
      </p:sp>
      <p:sp>
        <p:nvSpPr>
          <p:cNvPr id="7" name="Text 5"/>
          <p:cNvSpPr txBox="1"/>
          <p:nvPr/>
        </p:nvSpPr>
        <p:spPr>
          <a:xfrm>
            <a:off x="3474720" y="1371600"/>
            <a:ext cx="1417320" cy="640080"/>
          </a:xfrm>
          <a:prstGeom prst="rect">
            <a:avLst/>
          </a:prstGeom>
          <a:noFill/>
          <a:ln/>
        </p:spPr>
        <p:txBody>
          <a:bodyPr wrap="square" lIns="0" tIns="0" rIns="0" bIns="0" rtlCol="0" anchor="t"/>
          <a:lstStyle/>
          <a:p>
            <a:pPr indent="0" marL="0">
              <a:buNone/>
            </a:pPr>
            <a:r>
              <a:rPr lang="en-US" sz="3000" b="1" dirty="0">
                <a:solidFill>
                  <a:schemeClr val="accent5"/>
                </a:solidFill>
                <a:latin typeface="Cambria" pitchFamily="34" charset="0"/>
                <a:ea typeface="Cambria" pitchFamily="34" charset="-122"/>
                <a:cs typeface="Cambria" pitchFamily="34" charset="-120"/>
              </a:rPr>
              <a:t>535</a:t>
            </a:r>
            <a:endParaRPr lang="en-US" sz="3000" dirty="0"/>
          </a:p>
        </p:txBody>
      </p:sp>
      <p:sp>
        <p:nvSpPr>
          <p:cNvPr id="8" name="Text 6"/>
          <p:cNvSpPr txBox="1"/>
          <p:nvPr/>
        </p:nvSpPr>
        <p:spPr>
          <a:xfrm>
            <a:off x="3474720" y="2011680"/>
            <a:ext cx="1371600" cy="548640"/>
          </a:xfrm>
          <a:prstGeom prst="rect">
            <a:avLst/>
          </a:prstGeom>
          <a:noFill/>
          <a:ln/>
        </p:spPr>
        <p:txBody>
          <a:bodyPr wrap="square" lIns="0" tIns="0" rIns="0" bIns="0" rtlCol="0" anchor="t"/>
          <a:lstStyle/>
          <a:p>
            <a:pPr indent="0" marL="0">
              <a:buNone/>
            </a:pPr>
            <a:r>
              <a:rPr lang="en-US" sz="1200" dirty="0">
                <a:solidFill>
                  <a:schemeClr val="tx2"/>
                </a:solidFill>
              </a:rPr>
              <a:t>patients in our study</a:t>
            </a:r>
            <a:endParaRPr lang="en-US" sz="1200" dirty="0"/>
          </a:p>
        </p:txBody>
      </p:sp>
      <p:sp>
        <p:nvSpPr>
          <p:cNvPr id="9" name="Text 7"/>
          <p:cNvSpPr txBox="1"/>
          <p:nvPr/>
        </p:nvSpPr>
        <p:spPr>
          <a:xfrm>
            <a:off x="4937760" y="1371600"/>
            <a:ext cx="1417320" cy="640080"/>
          </a:xfrm>
          <a:prstGeom prst="rect">
            <a:avLst/>
          </a:prstGeom>
          <a:noFill/>
          <a:ln/>
        </p:spPr>
        <p:txBody>
          <a:bodyPr wrap="square" lIns="0" tIns="0" rIns="0" bIns="0" rtlCol="0" anchor="t"/>
          <a:lstStyle/>
          <a:p>
            <a:pPr indent="0" marL="0">
              <a:buNone/>
            </a:pPr>
            <a:r>
              <a:rPr lang="en-US" sz="3000" b="1" dirty="0">
                <a:solidFill>
                  <a:schemeClr val="accent5"/>
                </a:solidFill>
                <a:latin typeface="Cambria" pitchFamily="34" charset="0"/>
                <a:ea typeface="Cambria" pitchFamily="34" charset="-122"/>
                <a:cs typeface="Cambria" pitchFamily="34" charset="-120"/>
              </a:rPr>
              <a:t>879</a:t>
            </a:r>
            <a:endParaRPr lang="en-US" sz="3000" dirty="0"/>
          </a:p>
        </p:txBody>
      </p:sp>
      <p:sp>
        <p:nvSpPr>
          <p:cNvPr id="10" name="Text 8"/>
          <p:cNvSpPr txBox="1"/>
          <p:nvPr/>
        </p:nvSpPr>
        <p:spPr>
          <a:xfrm>
            <a:off x="4937760" y="2011680"/>
            <a:ext cx="1371600" cy="548640"/>
          </a:xfrm>
          <a:prstGeom prst="rect">
            <a:avLst/>
          </a:prstGeom>
          <a:noFill/>
          <a:ln/>
        </p:spPr>
        <p:txBody>
          <a:bodyPr wrap="square" lIns="0" tIns="0" rIns="0" bIns="0" rtlCol="0" anchor="t"/>
          <a:lstStyle/>
          <a:p>
            <a:pPr indent="0" marL="0">
              <a:buNone/>
            </a:pPr>
            <a:r>
              <a:rPr lang="en-US" sz="1200" dirty="0">
                <a:solidFill>
                  <a:schemeClr val="tx2"/>
                </a:solidFill>
              </a:rPr>
              <a:t>nodules analysed</a:t>
            </a:r>
            <a:endParaRPr lang="en-US" sz="1200" dirty="0"/>
          </a:p>
        </p:txBody>
      </p:sp>
      <p:sp>
        <p:nvSpPr>
          <p:cNvPr id="11" name="Text 9"/>
          <p:cNvSpPr txBox="1"/>
          <p:nvPr/>
        </p:nvSpPr>
        <p:spPr>
          <a:xfrm>
            <a:off x="548640" y="2880360"/>
            <a:ext cx="5669280" cy="3200400"/>
          </a:xfrm>
          <a:prstGeom prst="rect">
            <a:avLst/>
          </a:prstGeom>
          <a:noFill/>
          <a:ln/>
        </p:spPr>
        <p:txBody>
          <a:bodyPr wrap="square" lIns="0" tIns="0" rIns="0" bIns="0" rtlCol="0" anchor="t"/>
          <a:lstStyle/>
          <a:p>
            <a:pPr indent="0" marL="0">
              <a:buNone/>
            </a:pPr>
            <a:r>
              <a:rPr lang="en-US" sz="1600" b="1" dirty="0">
                <a:solidFill>
                  <a:srgbClr val="13213A"/>
                </a:solidFill>
              </a:rPr>
              <a:t>How the 879 nodules were chosen</a:t>
            </a:r>
            <a:endParaRPr lang="en-US" sz="1400" dirty="0"/>
          </a:p>
          <a:p>
            <a:pPr marL="342900" indent="-342900">
              <a:spcAft>
                <a:spcPts val="600"/>
              </a:spcAft>
              <a:buSzPct val="100000"/>
              <a:buChar char="•"/>
            </a:pPr>
            <a:r>
              <a:rPr lang="en-US" sz="1400" dirty="0">
                <a:solidFill>
                  <a:srgbClr val="4A5568"/>
                </a:solidFill>
              </a:rPr>
              <a:t>Marked by at least 3 of the 4 radiologists</a:t>
            </a:r>
            <a:endParaRPr lang="en-US" sz="1400" dirty="0"/>
          </a:p>
          <a:p>
            <a:pPr marL="342900" indent="-342900">
              <a:spcAft>
                <a:spcPts val="600"/>
              </a:spcAft>
              <a:buSzPct val="100000"/>
              <a:buChar char="•"/>
            </a:pPr>
            <a:r>
              <a:rPr lang="en-US" sz="1400" dirty="0">
                <a:solidFill>
                  <a:srgbClr val="4A5568"/>
                </a:solidFill>
              </a:rPr>
              <a:t>Label = average suspicion rating: above 3 → high, below 3 → low</a:t>
            </a:r>
            <a:endParaRPr lang="en-US" sz="1400" dirty="0"/>
          </a:p>
          <a:p>
            <a:pPr marL="342900" indent="-342900">
              <a:spcAft>
                <a:spcPts val="600"/>
              </a:spcAft>
              <a:buSzPct val="100000"/>
              <a:buChar char="•"/>
            </a:pPr>
            <a:r>
              <a:rPr lang="en-US" sz="1400" dirty="0">
                <a:solidFill>
                  <a:srgbClr val="4A5568"/>
                </a:solidFill>
              </a:rPr>
              <a:t>Removed 513 unclear nodules rated exactly 3</a:t>
            </a:r>
            <a:endParaRPr lang="en-US" sz="1400" dirty="0"/>
          </a:p>
          <a:p>
            <a:pPr marL="342900" indent="-342900">
              <a:spcAft>
                <a:spcPts val="600"/>
              </a:spcAft>
              <a:buSzPct val="100000"/>
              <a:buChar char="•"/>
            </a:pPr>
            <a:r>
              <a:rPr lang="en-US" sz="1400" dirty="0">
                <a:solidFill>
                  <a:srgbClr val="4A5568"/>
                </a:solidFill>
              </a:rPr>
              <a:t>Removed 1,259 nodules marked by fewer than 3 radiologists</a:t>
            </a:r>
            <a:endParaRPr lang="en-US" sz="1400" dirty="0"/>
          </a:p>
          <a:p>
            <a:pPr marL="342900" indent="-342900">
              <a:spcAft>
                <a:spcPts val="600"/>
              </a:spcAft>
              <a:buSzPct val="100000"/>
              <a:buChar char="•"/>
            </a:pPr>
            <a:r>
              <a:rPr lang="en-US" sz="1400" dirty="0">
                <a:solidFill>
                  <a:srgbClr val="4A5568"/>
                </a:solidFill>
              </a:rPr>
              <a:t>Label is radiologist suspicion, not a confirmed diagnosis</a:t>
            </a:r>
            <a:endParaRPr lang="en-US" sz="1400" dirty="0"/>
          </a:p>
        </p:txBody>
      </p:sp>
      <p:graphicFrame>
        <p:nvGraphicFramePr>
          <p:cNvPr id="12" name="Chart 0" descr=""/>
          <p:cNvGraphicFramePr/>
          <p:nvPr/>
        </p:nvGraphicFramePr>
        <p:xfrm>
          <a:off x="6492240" y="1280160"/>
          <a:ext cx="5120640" cy="484632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How the analysis was done</a:t>
            </a:r>
            <a:endParaRPr lang="en-US" sz="3000" dirty="0"/>
          </a:p>
        </p:txBody>
      </p:sp>
      <p:sp>
        <p:nvSpPr>
          <p:cNvPr id="3" name="card"/>
          <p:cNvSpPr/>
          <p:nvPr/>
        </p:nvSpPr>
        <p:spPr>
          <a:xfrm>
            <a:off x="548640" y="1417320"/>
            <a:ext cx="1691640" cy="1828800"/>
          </a:xfrm>
          <a:prstGeom prst="roundRect">
            <a:avLst>
              <a:gd name="adj" fmla="val 4324"/>
            </a:avLst>
          </a:prstGeom>
          <a:solidFill>
            <a:schemeClr val="bg2"/>
          </a:solidFill>
          <a:ln w="9525">
            <a:solidFill>
              <a:schemeClr val="bg2"/>
            </a:solidFill>
            <a:prstDash val="solid"/>
          </a:ln>
        </p:spPr>
      </p:sp>
      <p:sp>
        <p:nvSpPr>
          <p:cNvPr id="4" name="Text 2"/>
          <p:cNvSpPr txBox="1"/>
          <p:nvPr/>
        </p:nvSpPr>
        <p:spPr>
          <a:xfrm>
            <a:off x="731520" y="1554480"/>
            <a:ext cx="128016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1</a:t>
            </a:r>
            <a:endParaRPr lang="en-US" sz="2400" dirty="0"/>
          </a:p>
        </p:txBody>
      </p:sp>
      <p:sp>
        <p:nvSpPr>
          <p:cNvPr id="5" name="Text 3"/>
          <p:cNvSpPr txBox="1"/>
          <p:nvPr/>
        </p:nvSpPr>
        <p:spPr>
          <a:xfrm>
            <a:off x="731520" y="2057400"/>
            <a:ext cx="1371600" cy="548640"/>
          </a:xfrm>
          <a:prstGeom prst="rect">
            <a:avLst/>
          </a:prstGeom>
          <a:noFill/>
          <a:ln/>
        </p:spPr>
        <p:txBody>
          <a:bodyPr wrap="square" lIns="0" tIns="0" rIns="0" bIns="0" rtlCol="0" anchor="t"/>
          <a:lstStyle/>
          <a:p>
            <a:pPr indent="0" marL="0">
              <a:buNone/>
            </a:pPr>
            <a:r>
              <a:rPr lang="en-US" sz="1500" b="1" dirty="0">
                <a:solidFill>
                  <a:schemeClr val="tx1"/>
                </a:solidFill>
              </a:rPr>
              <a:t>Split by patient</a:t>
            </a:r>
            <a:endParaRPr lang="en-US" sz="1500" dirty="0"/>
          </a:p>
        </p:txBody>
      </p:sp>
      <p:sp>
        <p:nvSpPr>
          <p:cNvPr id="6" name="Text 4"/>
          <p:cNvSpPr txBox="1"/>
          <p:nvPr/>
        </p:nvSpPr>
        <p:spPr>
          <a:xfrm>
            <a:off x="731520" y="2606040"/>
            <a:ext cx="1371600" cy="594360"/>
          </a:xfrm>
          <a:prstGeom prst="rect">
            <a:avLst/>
          </a:prstGeom>
          <a:noFill/>
          <a:ln/>
        </p:spPr>
        <p:txBody>
          <a:bodyPr wrap="square" lIns="0" tIns="0" rIns="0" bIns="0" rtlCol="0" anchor="t"/>
          <a:lstStyle/>
          <a:p>
            <a:pPr indent="0" marL="0">
              <a:buNone/>
            </a:pPr>
            <a:r>
              <a:rPr lang="en-US" sz="1200" dirty="0">
                <a:solidFill>
                  <a:schemeClr val="tx2"/>
                </a:solidFill>
              </a:rPr>
              <a:t>60 / 20 / 20, fixed seed</a:t>
            </a:r>
            <a:endParaRPr lang="en-US" sz="1200" dirty="0"/>
          </a:p>
        </p:txBody>
      </p:sp>
      <p:sp>
        <p:nvSpPr>
          <p:cNvPr id="7" name="arrow"/>
          <p:cNvSpPr/>
          <p:nvPr/>
        </p:nvSpPr>
        <p:spPr>
          <a:xfrm>
            <a:off x="2267712" y="2331720"/>
            <a:ext cx="137160" cy="0"/>
          </a:xfrm>
          <a:prstGeom prst="line">
            <a:avLst/>
          </a:prstGeom>
          <a:noFill/>
          <a:ln w="19050">
            <a:solidFill>
              <a:srgbClr val="8A94A6"/>
            </a:solidFill>
            <a:prstDash val="solid"/>
            <a:tailEnd type="triangle"/>
          </a:ln>
        </p:spPr>
      </p:sp>
      <p:sp>
        <p:nvSpPr>
          <p:cNvPr id="8" name="card"/>
          <p:cNvSpPr/>
          <p:nvPr/>
        </p:nvSpPr>
        <p:spPr>
          <a:xfrm>
            <a:off x="2423160" y="1417320"/>
            <a:ext cx="1691640" cy="1828800"/>
          </a:xfrm>
          <a:prstGeom prst="roundRect">
            <a:avLst>
              <a:gd name="adj" fmla="val 4324"/>
            </a:avLst>
          </a:prstGeom>
          <a:solidFill>
            <a:schemeClr val="bg2"/>
          </a:solidFill>
          <a:ln w="9525">
            <a:solidFill>
              <a:schemeClr val="bg2"/>
            </a:solidFill>
            <a:prstDash val="solid"/>
          </a:ln>
        </p:spPr>
      </p:sp>
      <p:sp>
        <p:nvSpPr>
          <p:cNvPr id="9" name="Text 7"/>
          <p:cNvSpPr txBox="1"/>
          <p:nvPr/>
        </p:nvSpPr>
        <p:spPr>
          <a:xfrm>
            <a:off x="2606040" y="1554480"/>
            <a:ext cx="128016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2</a:t>
            </a:r>
            <a:endParaRPr lang="en-US" sz="2400" dirty="0"/>
          </a:p>
        </p:txBody>
      </p:sp>
      <p:sp>
        <p:nvSpPr>
          <p:cNvPr id="10" name="Text 8"/>
          <p:cNvSpPr txBox="1"/>
          <p:nvPr/>
        </p:nvSpPr>
        <p:spPr>
          <a:xfrm>
            <a:off x="2606040" y="2057400"/>
            <a:ext cx="1371600" cy="548640"/>
          </a:xfrm>
          <a:prstGeom prst="rect">
            <a:avLst/>
          </a:prstGeom>
          <a:noFill/>
          <a:ln/>
        </p:spPr>
        <p:txBody>
          <a:bodyPr wrap="square" lIns="0" tIns="0" rIns="0" bIns="0" rtlCol="0" anchor="t"/>
          <a:lstStyle/>
          <a:p>
            <a:pPr indent="0" marL="0">
              <a:buNone/>
            </a:pPr>
            <a:r>
              <a:rPr lang="en-US" sz="1500" b="1" dirty="0">
                <a:solidFill>
                  <a:schemeClr val="tx1"/>
                </a:solidFill>
              </a:rPr>
              <a:t>Measure 4 features</a:t>
            </a:r>
            <a:endParaRPr lang="en-US" sz="1500" dirty="0"/>
          </a:p>
        </p:txBody>
      </p:sp>
      <p:sp>
        <p:nvSpPr>
          <p:cNvPr id="11" name="Text 9"/>
          <p:cNvSpPr txBox="1"/>
          <p:nvPr/>
        </p:nvSpPr>
        <p:spPr>
          <a:xfrm>
            <a:off x="2606040" y="2606040"/>
            <a:ext cx="1371600" cy="594360"/>
          </a:xfrm>
          <a:prstGeom prst="rect">
            <a:avLst/>
          </a:prstGeom>
          <a:noFill/>
          <a:ln/>
        </p:spPr>
        <p:txBody>
          <a:bodyPr wrap="square" lIns="0" tIns="0" rIns="0" bIns="0" rtlCol="0" anchor="t"/>
          <a:lstStyle/>
          <a:p>
            <a:pPr indent="0" marL="0">
              <a:buNone/>
            </a:pPr>
            <a:r>
              <a:rPr lang="en-US" sz="1200" dirty="0">
                <a:solidFill>
                  <a:schemeClr val="tx2"/>
                </a:solidFill>
              </a:rPr>
              <a:t>Size, roundness, stretch, flatness</a:t>
            </a:r>
            <a:endParaRPr lang="en-US" sz="1200" dirty="0"/>
          </a:p>
        </p:txBody>
      </p:sp>
      <p:sp>
        <p:nvSpPr>
          <p:cNvPr id="12" name="arrow"/>
          <p:cNvSpPr/>
          <p:nvPr/>
        </p:nvSpPr>
        <p:spPr>
          <a:xfrm>
            <a:off x="4142232" y="2331720"/>
            <a:ext cx="137160" cy="0"/>
          </a:xfrm>
          <a:prstGeom prst="line">
            <a:avLst/>
          </a:prstGeom>
          <a:noFill/>
          <a:ln w="19050">
            <a:solidFill>
              <a:srgbClr val="8A94A6"/>
            </a:solidFill>
            <a:prstDash val="solid"/>
            <a:tailEnd type="triangle"/>
          </a:ln>
        </p:spPr>
      </p:sp>
      <p:sp>
        <p:nvSpPr>
          <p:cNvPr id="13" name="card"/>
          <p:cNvSpPr/>
          <p:nvPr/>
        </p:nvSpPr>
        <p:spPr>
          <a:xfrm>
            <a:off x="4297680" y="1417320"/>
            <a:ext cx="1691640" cy="1828800"/>
          </a:xfrm>
          <a:prstGeom prst="roundRect">
            <a:avLst>
              <a:gd name="adj" fmla="val 4324"/>
            </a:avLst>
          </a:prstGeom>
          <a:solidFill>
            <a:schemeClr val="bg2"/>
          </a:solidFill>
          <a:ln w="9525">
            <a:solidFill>
              <a:schemeClr val="bg2"/>
            </a:solidFill>
            <a:prstDash val="solid"/>
          </a:ln>
        </p:spPr>
      </p:sp>
      <p:sp>
        <p:nvSpPr>
          <p:cNvPr id="14" name="Text 12"/>
          <p:cNvSpPr txBox="1"/>
          <p:nvPr/>
        </p:nvSpPr>
        <p:spPr>
          <a:xfrm>
            <a:off x="4480560" y="1554480"/>
            <a:ext cx="128016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3</a:t>
            </a:r>
            <a:endParaRPr lang="en-US" sz="2400" dirty="0"/>
          </a:p>
        </p:txBody>
      </p:sp>
      <p:sp>
        <p:nvSpPr>
          <p:cNvPr id="15" name="Text 13"/>
          <p:cNvSpPr txBox="1"/>
          <p:nvPr/>
        </p:nvSpPr>
        <p:spPr>
          <a:xfrm>
            <a:off x="4480560" y="2057400"/>
            <a:ext cx="1371600" cy="548640"/>
          </a:xfrm>
          <a:prstGeom prst="rect">
            <a:avLst/>
          </a:prstGeom>
          <a:noFill/>
          <a:ln/>
        </p:spPr>
        <p:txBody>
          <a:bodyPr wrap="square" lIns="0" tIns="0" rIns="0" bIns="0" rtlCol="0" anchor="t"/>
          <a:lstStyle/>
          <a:p>
            <a:pPr indent="0" marL="0">
              <a:buNone/>
            </a:pPr>
            <a:r>
              <a:rPr lang="en-US" sz="1500" b="1" dirty="0">
                <a:solidFill>
                  <a:schemeClr val="tx1"/>
                </a:solidFill>
              </a:rPr>
              <a:t>Train</a:t>
            </a:r>
            <a:endParaRPr lang="en-US" sz="1500" dirty="0"/>
          </a:p>
        </p:txBody>
      </p:sp>
      <p:sp>
        <p:nvSpPr>
          <p:cNvPr id="16" name="Text 14"/>
          <p:cNvSpPr txBox="1"/>
          <p:nvPr/>
        </p:nvSpPr>
        <p:spPr>
          <a:xfrm>
            <a:off x="4480560" y="2606040"/>
            <a:ext cx="1371600" cy="594360"/>
          </a:xfrm>
          <a:prstGeom prst="rect">
            <a:avLst/>
          </a:prstGeom>
          <a:noFill/>
          <a:ln/>
        </p:spPr>
        <p:txBody>
          <a:bodyPr wrap="square" lIns="0" tIns="0" rIns="0" bIns="0" rtlCol="0" anchor="t"/>
          <a:lstStyle/>
          <a:p>
            <a:pPr indent="0" marL="0">
              <a:buNone/>
            </a:pPr>
            <a:r>
              <a:rPr lang="en-US" sz="1200" dirty="0">
                <a:solidFill>
                  <a:schemeClr val="tx2"/>
                </a:solidFill>
              </a:rPr>
              <a:t>Quantum + classical, on train only</a:t>
            </a:r>
            <a:endParaRPr lang="en-US" sz="1200" dirty="0"/>
          </a:p>
        </p:txBody>
      </p:sp>
      <p:sp>
        <p:nvSpPr>
          <p:cNvPr id="17" name="arrow"/>
          <p:cNvSpPr/>
          <p:nvPr/>
        </p:nvSpPr>
        <p:spPr>
          <a:xfrm>
            <a:off x="6016752" y="2331720"/>
            <a:ext cx="137160" cy="0"/>
          </a:xfrm>
          <a:prstGeom prst="line">
            <a:avLst/>
          </a:prstGeom>
          <a:noFill/>
          <a:ln w="19050">
            <a:solidFill>
              <a:srgbClr val="8A94A6"/>
            </a:solidFill>
            <a:prstDash val="solid"/>
            <a:tailEnd type="triangle"/>
          </a:ln>
        </p:spPr>
      </p:sp>
      <p:sp>
        <p:nvSpPr>
          <p:cNvPr id="18" name="card"/>
          <p:cNvSpPr/>
          <p:nvPr/>
        </p:nvSpPr>
        <p:spPr>
          <a:xfrm>
            <a:off x="6172200" y="1417320"/>
            <a:ext cx="1691640" cy="1828800"/>
          </a:xfrm>
          <a:prstGeom prst="roundRect">
            <a:avLst>
              <a:gd name="adj" fmla="val 4324"/>
            </a:avLst>
          </a:prstGeom>
          <a:solidFill>
            <a:schemeClr val="bg2"/>
          </a:solidFill>
          <a:ln w="9525">
            <a:solidFill>
              <a:schemeClr val="bg2"/>
            </a:solidFill>
            <a:prstDash val="solid"/>
          </a:ln>
        </p:spPr>
      </p:sp>
      <p:sp>
        <p:nvSpPr>
          <p:cNvPr id="19" name="Text 17"/>
          <p:cNvSpPr txBox="1"/>
          <p:nvPr/>
        </p:nvSpPr>
        <p:spPr>
          <a:xfrm>
            <a:off x="6355080" y="1554480"/>
            <a:ext cx="128016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4</a:t>
            </a:r>
            <a:endParaRPr lang="en-US" sz="2400" dirty="0"/>
          </a:p>
        </p:txBody>
      </p:sp>
      <p:sp>
        <p:nvSpPr>
          <p:cNvPr id="20" name="Text 18"/>
          <p:cNvSpPr txBox="1"/>
          <p:nvPr/>
        </p:nvSpPr>
        <p:spPr>
          <a:xfrm>
            <a:off x="6355080" y="2057400"/>
            <a:ext cx="1371600" cy="548640"/>
          </a:xfrm>
          <a:prstGeom prst="rect">
            <a:avLst/>
          </a:prstGeom>
          <a:noFill/>
          <a:ln/>
        </p:spPr>
        <p:txBody>
          <a:bodyPr wrap="square" lIns="0" tIns="0" rIns="0" bIns="0" rtlCol="0" anchor="t"/>
          <a:lstStyle/>
          <a:p>
            <a:pPr indent="0" marL="0">
              <a:buNone/>
            </a:pPr>
            <a:r>
              <a:rPr lang="en-US" sz="1500" b="1" dirty="0">
                <a:solidFill>
                  <a:schemeClr val="tx1"/>
                </a:solidFill>
              </a:rPr>
              <a:t>Tune</a:t>
            </a:r>
            <a:endParaRPr lang="en-US" sz="1500" dirty="0"/>
          </a:p>
        </p:txBody>
      </p:sp>
      <p:sp>
        <p:nvSpPr>
          <p:cNvPr id="21" name="Text 19"/>
          <p:cNvSpPr txBox="1"/>
          <p:nvPr/>
        </p:nvSpPr>
        <p:spPr>
          <a:xfrm>
            <a:off x="6355080" y="2606040"/>
            <a:ext cx="1371600" cy="594360"/>
          </a:xfrm>
          <a:prstGeom prst="rect">
            <a:avLst/>
          </a:prstGeom>
          <a:noFill/>
          <a:ln/>
        </p:spPr>
        <p:txBody>
          <a:bodyPr wrap="square" lIns="0" tIns="0" rIns="0" bIns="0" rtlCol="0" anchor="t"/>
          <a:lstStyle/>
          <a:p>
            <a:pPr indent="0" marL="0">
              <a:buNone/>
            </a:pPr>
            <a:r>
              <a:rPr lang="en-US" sz="1200" dirty="0">
                <a:solidFill>
                  <a:schemeClr val="tx2"/>
                </a:solidFill>
              </a:rPr>
              <a:t>Decision threshold on validation</a:t>
            </a:r>
            <a:endParaRPr lang="en-US" sz="1200" dirty="0"/>
          </a:p>
        </p:txBody>
      </p:sp>
      <p:sp>
        <p:nvSpPr>
          <p:cNvPr id="22" name="arrow"/>
          <p:cNvSpPr/>
          <p:nvPr/>
        </p:nvSpPr>
        <p:spPr>
          <a:xfrm>
            <a:off x="7891272" y="2331720"/>
            <a:ext cx="137160" cy="0"/>
          </a:xfrm>
          <a:prstGeom prst="line">
            <a:avLst/>
          </a:prstGeom>
          <a:noFill/>
          <a:ln w="19050">
            <a:solidFill>
              <a:srgbClr val="8A94A6"/>
            </a:solidFill>
            <a:prstDash val="solid"/>
            <a:tailEnd type="triangle"/>
          </a:ln>
        </p:spPr>
      </p:sp>
      <p:sp>
        <p:nvSpPr>
          <p:cNvPr id="23" name="card"/>
          <p:cNvSpPr/>
          <p:nvPr/>
        </p:nvSpPr>
        <p:spPr>
          <a:xfrm>
            <a:off x="8046720" y="1417320"/>
            <a:ext cx="1691640" cy="1828800"/>
          </a:xfrm>
          <a:prstGeom prst="roundRect">
            <a:avLst>
              <a:gd name="adj" fmla="val 4324"/>
            </a:avLst>
          </a:prstGeom>
          <a:solidFill>
            <a:schemeClr val="bg2"/>
          </a:solidFill>
          <a:ln w="9525">
            <a:solidFill>
              <a:schemeClr val="bg2"/>
            </a:solidFill>
            <a:prstDash val="solid"/>
          </a:ln>
        </p:spPr>
      </p:sp>
      <p:sp>
        <p:nvSpPr>
          <p:cNvPr id="24" name="Text 22"/>
          <p:cNvSpPr txBox="1"/>
          <p:nvPr/>
        </p:nvSpPr>
        <p:spPr>
          <a:xfrm>
            <a:off x="8229600" y="1554480"/>
            <a:ext cx="128016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5</a:t>
            </a:r>
            <a:endParaRPr lang="en-US" sz="2400" dirty="0"/>
          </a:p>
        </p:txBody>
      </p:sp>
      <p:sp>
        <p:nvSpPr>
          <p:cNvPr id="25" name="Text 23"/>
          <p:cNvSpPr txBox="1"/>
          <p:nvPr/>
        </p:nvSpPr>
        <p:spPr>
          <a:xfrm>
            <a:off x="8229600" y="2057400"/>
            <a:ext cx="1371600" cy="548640"/>
          </a:xfrm>
          <a:prstGeom prst="rect">
            <a:avLst/>
          </a:prstGeom>
          <a:noFill/>
          <a:ln/>
        </p:spPr>
        <p:txBody>
          <a:bodyPr wrap="square" lIns="0" tIns="0" rIns="0" bIns="0" rtlCol="0" anchor="t"/>
          <a:lstStyle/>
          <a:p>
            <a:pPr indent="0" marL="0">
              <a:buNone/>
            </a:pPr>
            <a:r>
              <a:rPr lang="en-US" sz="1500" b="1" dirty="0">
                <a:solidFill>
                  <a:schemeClr val="tx1"/>
                </a:solidFill>
              </a:rPr>
              <a:t>Freeze + run noise</a:t>
            </a:r>
            <a:endParaRPr lang="en-US" sz="1500" dirty="0"/>
          </a:p>
        </p:txBody>
      </p:sp>
      <p:sp>
        <p:nvSpPr>
          <p:cNvPr id="26" name="Text 24"/>
          <p:cNvSpPr txBox="1"/>
          <p:nvPr/>
        </p:nvSpPr>
        <p:spPr>
          <a:xfrm>
            <a:off x="8229600" y="2606040"/>
            <a:ext cx="1371600" cy="594360"/>
          </a:xfrm>
          <a:prstGeom prst="rect">
            <a:avLst/>
          </a:prstGeom>
          <a:noFill/>
          <a:ln/>
        </p:spPr>
        <p:txBody>
          <a:bodyPr wrap="square" lIns="0" tIns="0" rIns="0" bIns="0" rtlCol="0" anchor="t"/>
          <a:lstStyle/>
          <a:p>
            <a:pPr indent="0" marL="0">
              <a:buNone/>
            </a:pPr>
            <a:r>
              <a:rPr lang="en-US" sz="1200" dirty="0">
                <a:solidFill>
                  <a:schemeClr val="tx2"/>
                </a:solidFill>
              </a:rPr>
              <a:t>5 levels × 5 runs each</a:t>
            </a:r>
            <a:endParaRPr lang="en-US" sz="1200" dirty="0"/>
          </a:p>
        </p:txBody>
      </p:sp>
      <p:sp>
        <p:nvSpPr>
          <p:cNvPr id="27" name="arrow"/>
          <p:cNvSpPr/>
          <p:nvPr/>
        </p:nvSpPr>
        <p:spPr>
          <a:xfrm>
            <a:off x="9765792" y="2331720"/>
            <a:ext cx="137160" cy="0"/>
          </a:xfrm>
          <a:prstGeom prst="line">
            <a:avLst/>
          </a:prstGeom>
          <a:noFill/>
          <a:ln w="19050">
            <a:solidFill>
              <a:srgbClr val="8A94A6"/>
            </a:solidFill>
            <a:prstDash val="solid"/>
            <a:tailEnd type="triangle"/>
          </a:ln>
        </p:spPr>
      </p:sp>
      <p:sp>
        <p:nvSpPr>
          <p:cNvPr id="28" name="card"/>
          <p:cNvSpPr/>
          <p:nvPr/>
        </p:nvSpPr>
        <p:spPr>
          <a:xfrm>
            <a:off x="9921240" y="1417320"/>
            <a:ext cx="1691640" cy="1828800"/>
          </a:xfrm>
          <a:prstGeom prst="roundRect">
            <a:avLst>
              <a:gd name="adj" fmla="val 4324"/>
            </a:avLst>
          </a:prstGeom>
          <a:solidFill>
            <a:schemeClr val="tx1"/>
          </a:solidFill>
          <a:ln w="9525">
            <a:solidFill>
              <a:schemeClr val="bg2"/>
            </a:solidFill>
            <a:prstDash val="solid"/>
          </a:ln>
        </p:spPr>
      </p:sp>
      <p:sp>
        <p:nvSpPr>
          <p:cNvPr id="29" name="Text 27"/>
          <p:cNvSpPr txBox="1"/>
          <p:nvPr/>
        </p:nvSpPr>
        <p:spPr>
          <a:xfrm>
            <a:off x="10104120" y="1554480"/>
            <a:ext cx="1280160" cy="457200"/>
          </a:xfrm>
          <a:prstGeom prst="rect">
            <a:avLst/>
          </a:prstGeom>
          <a:noFill/>
          <a:ln/>
        </p:spPr>
        <p:txBody>
          <a:bodyPr wrap="square" lIns="0" tIns="0" rIns="0" bIns="0" rtlCol="0" anchor="t"/>
          <a:lstStyle/>
          <a:p>
            <a:pPr indent="0" marL="0">
              <a:buNone/>
            </a:pPr>
            <a:r>
              <a:rPr lang="en-US" sz="2400" b="1" dirty="0">
                <a:solidFill>
                  <a:srgbClr val="F08A74"/>
                </a:solidFill>
                <a:latin typeface="Cambria" pitchFamily="34" charset="0"/>
                <a:ea typeface="Cambria" pitchFamily="34" charset="-122"/>
                <a:cs typeface="Cambria" pitchFamily="34" charset="-120"/>
              </a:rPr>
              <a:t>6</a:t>
            </a:r>
            <a:endParaRPr lang="en-US" sz="2400" dirty="0"/>
          </a:p>
        </p:txBody>
      </p:sp>
      <p:sp>
        <p:nvSpPr>
          <p:cNvPr id="30" name="Text 28"/>
          <p:cNvSpPr txBox="1"/>
          <p:nvPr/>
        </p:nvSpPr>
        <p:spPr>
          <a:xfrm>
            <a:off x="10104120" y="2057400"/>
            <a:ext cx="1371600" cy="548640"/>
          </a:xfrm>
          <a:prstGeom prst="rect">
            <a:avLst/>
          </a:prstGeom>
          <a:noFill/>
          <a:ln/>
        </p:spPr>
        <p:txBody>
          <a:bodyPr wrap="square" lIns="0" tIns="0" rIns="0" bIns="0" rtlCol="0" anchor="t"/>
          <a:lstStyle/>
          <a:p>
            <a:pPr indent="0" marL="0">
              <a:buNone/>
            </a:pPr>
            <a:r>
              <a:rPr lang="en-US" sz="1500" b="1" dirty="0">
                <a:solidFill>
                  <a:schemeClr val="bg1"/>
                </a:solidFill>
              </a:rPr>
              <a:t>Test once</a:t>
            </a:r>
            <a:endParaRPr lang="en-US" sz="1500" dirty="0"/>
          </a:p>
        </p:txBody>
      </p:sp>
      <p:sp>
        <p:nvSpPr>
          <p:cNvPr id="31" name="Text 29"/>
          <p:cNvSpPr txBox="1"/>
          <p:nvPr/>
        </p:nvSpPr>
        <p:spPr>
          <a:xfrm>
            <a:off x="10104120" y="2606040"/>
            <a:ext cx="1371600" cy="594360"/>
          </a:xfrm>
          <a:prstGeom prst="rect">
            <a:avLst/>
          </a:prstGeom>
          <a:noFill/>
          <a:ln/>
        </p:spPr>
        <p:txBody>
          <a:bodyPr wrap="square" lIns="0" tIns="0" rIns="0" bIns="0" rtlCol="0" anchor="t"/>
          <a:lstStyle/>
          <a:p>
            <a:pPr indent="0" marL="0">
              <a:buNone/>
            </a:pPr>
            <a:r>
              <a:rPr lang="en-US" sz="1200" dirty="0">
                <a:solidFill>
                  <a:srgbClr val="C9D1E3"/>
                </a:solidFill>
              </a:rPr>
              <a:t>183 held-out nodules</a:t>
            </a:r>
            <a:endParaRPr lang="en-US" sz="1200" dirty="0"/>
          </a:p>
        </p:txBody>
      </p:sp>
      <p:sp>
        <p:nvSpPr>
          <p:cNvPr id="32" name="card"/>
          <p:cNvSpPr/>
          <p:nvPr/>
        </p:nvSpPr>
        <p:spPr>
          <a:xfrm>
            <a:off x="548640" y="3611880"/>
            <a:ext cx="3520440" cy="1874520"/>
          </a:xfrm>
          <a:prstGeom prst="roundRect">
            <a:avLst>
              <a:gd name="adj" fmla="val 3902"/>
            </a:avLst>
          </a:prstGeom>
          <a:solidFill>
            <a:schemeClr val="bg1"/>
          </a:solidFill>
          <a:ln w="9525">
            <a:solidFill>
              <a:srgbClr val="D8DEE8"/>
            </a:solidFill>
            <a:prstDash val="solid"/>
          </a:ln>
        </p:spPr>
      </p:sp>
      <p:sp>
        <p:nvSpPr>
          <p:cNvPr id="33" name="Text 31"/>
          <p:cNvSpPr txBox="1"/>
          <p:nvPr/>
        </p:nvSpPr>
        <p:spPr>
          <a:xfrm>
            <a:off x="822960" y="3794760"/>
            <a:ext cx="3017520" cy="411480"/>
          </a:xfrm>
          <a:prstGeom prst="rect">
            <a:avLst/>
          </a:prstGeom>
          <a:noFill/>
          <a:ln/>
        </p:spPr>
        <p:txBody>
          <a:bodyPr wrap="square" lIns="0" tIns="0" rIns="0" bIns="0" rtlCol="0" anchor="t"/>
          <a:lstStyle/>
          <a:p>
            <a:pPr indent="0" marL="0">
              <a:buNone/>
            </a:pPr>
            <a:r>
              <a:rPr lang="en-US" sz="1800" b="1" dirty="0">
                <a:solidFill>
                  <a:schemeClr val="accent5"/>
                </a:solidFill>
                <a:latin typeface="Cambria" pitchFamily="34" charset="0"/>
                <a:ea typeface="Cambria" pitchFamily="34" charset="-122"/>
                <a:cs typeface="Cambria" pitchFamily="34" charset="-120"/>
              </a:rPr>
              <a:t>Correct?</a:t>
            </a:r>
            <a:endParaRPr lang="en-US" sz="1800" dirty="0"/>
          </a:p>
        </p:txBody>
      </p:sp>
      <p:sp>
        <p:nvSpPr>
          <p:cNvPr id="34" name="Text 32"/>
          <p:cNvSpPr txBox="1"/>
          <p:nvPr/>
        </p:nvSpPr>
        <p:spPr>
          <a:xfrm>
            <a:off x="822960" y="4297680"/>
            <a:ext cx="3017520" cy="1097280"/>
          </a:xfrm>
          <a:prstGeom prst="rect">
            <a:avLst/>
          </a:prstGeom>
          <a:noFill/>
          <a:ln/>
        </p:spPr>
        <p:txBody>
          <a:bodyPr wrap="square" lIns="0" tIns="0" rIns="0" bIns="0" rtlCol="0" anchor="t"/>
          <a:lstStyle/>
          <a:p>
            <a:pPr indent="0" marL="0">
              <a:buNone/>
            </a:pPr>
            <a:r>
              <a:rPr lang="en-US" sz="1400" dirty="0">
                <a:solidFill>
                  <a:schemeClr val="tx2"/>
                </a:solidFill>
              </a:rPr>
              <a:t>Balanced accuracy, sensitivity, specificity, AUC, with 95% confidence intervals</a:t>
            </a:r>
            <a:endParaRPr lang="en-US" sz="1400" dirty="0"/>
          </a:p>
        </p:txBody>
      </p:sp>
      <p:sp>
        <p:nvSpPr>
          <p:cNvPr id="35" name="card"/>
          <p:cNvSpPr/>
          <p:nvPr/>
        </p:nvSpPr>
        <p:spPr>
          <a:xfrm>
            <a:off x="4297680" y="3611880"/>
            <a:ext cx="3520440" cy="1874520"/>
          </a:xfrm>
          <a:prstGeom prst="roundRect">
            <a:avLst>
              <a:gd name="adj" fmla="val 3902"/>
            </a:avLst>
          </a:prstGeom>
          <a:solidFill>
            <a:schemeClr val="bg1"/>
          </a:solidFill>
          <a:ln w="9525">
            <a:solidFill>
              <a:srgbClr val="D8DEE8"/>
            </a:solidFill>
            <a:prstDash val="solid"/>
          </a:ln>
        </p:spPr>
      </p:sp>
      <p:sp>
        <p:nvSpPr>
          <p:cNvPr id="36" name="Text 34"/>
          <p:cNvSpPr txBox="1"/>
          <p:nvPr/>
        </p:nvSpPr>
        <p:spPr>
          <a:xfrm>
            <a:off x="4572000" y="3794760"/>
            <a:ext cx="3017520" cy="411480"/>
          </a:xfrm>
          <a:prstGeom prst="rect">
            <a:avLst/>
          </a:prstGeom>
          <a:noFill/>
          <a:ln/>
        </p:spPr>
        <p:txBody>
          <a:bodyPr wrap="square" lIns="0" tIns="0" rIns="0" bIns="0" rtlCol="0" anchor="t"/>
          <a:lstStyle/>
          <a:p>
            <a:pPr indent="0" marL="0">
              <a:buNone/>
            </a:pPr>
            <a:r>
              <a:rPr lang="en-US" sz="1800" b="1" dirty="0">
                <a:solidFill>
                  <a:schemeClr val="accent2"/>
                </a:solidFill>
                <a:latin typeface="Cambria" pitchFamily="34" charset="0"/>
                <a:ea typeface="Cambria" pitchFamily="34" charset="-122"/>
                <a:cs typeface="Cambria" pitchFamily="34" charset="-120"/>
              </a:rPr>
              <a:t>Changed by noise?</a:t>
            </a:r>
            <a:endParaRPr lang="en-US" sz="1800" dirty="0"/>
          </a:p>
        </p:txBody>
      </p:sp>
      <p:sp>
        <p:nvSpPr>
          <p:cNvPr id="37" name="Text 35"/>
          <p:cNvSpPr txBox="1"/>
          <p:nvPr/>
        </p:nvSpPr>
        <p:spPr>
          <a:xfrm>
            <a:off x="4572000" y="4297680"/>
            <a:ext cx="3017520" cy="1097280"/>
          </a:xfrm>
          <a:prstGeom prst="rect">
            <a:avLst/>
          </a:prstGeom>
          <a:noFill/>
          <a:ln/>
        </p:spPr>
        <p:txBody>
          <a:bodyPr wrap="square" lIns="0" tIns="0" rIns="0" bIns="0" rtlCol="0" anchor="t"/>
          <a:lstStyle/>
          <a:p>
            <a:pPr indent="0" marL="0">
              <a:buNone/>
            </a:pPr>
            <a:r>
              <a:rPr lang="en-US" sz="1400" dirty="0">
                <a:solidFill>
                  <a:schemeClr val="tx2"/>
                </a:solidFill>
              </a:rPr>
              <a:t>Decision-flip rate, distance from the noise-free answer, run-to-run spread</a:t>
            </a:r>
            <a:endParaRPr lang="en-US" sz="1400" dirty="0"/>
          </a:p>
        </p:txBody>
      </p:sp>
      <p:sp>
        <p:nvSpPr>
          <p:cNvPr id="38" name="card"/>
          <p:cNvSpPr/>
          <p:nvPr/>
        </p:nvSpPr>
        <p:spPr>
          <a:xfrm>
            <a:off x="8046720" y="3611880"/>
            <a:ext cx="3520440" cy="1874520"/>
          </a:xfrm>
          <a:prstGeom prst="roundRect">
            <a:avLst>
              <a:gd name="adj" fmla="val 3902"/>
            </a:avLst>
          </a:prstGeom>
          <a:solidFill>
            <a:schemeClr val="bg1"/>
          </a:solidFill>
          <a:ln w="9525">
            <a:solidFill>
              <a:srgbClr val="D8DEE8"/>
            </a:solidFill>
            <a:prstDash val="solid"/>
          </a:ln>
        </p:spPr>
      </p:sp>
      <p:sp>
        <p:nvSpPr>
          <p:cNvPr id="39" name="Text 37"/>
          <p:cNvSpPr txBox="1"/>
          <p:nvPr/>
        </p:nvSpPr>
        <p:spPr>
          <a:xfrm>
            <a:off x="8321040" y="3794760"/>
            <a:ext cx="3017520" cy="411480"/>
          </a:xfrm>
          <a:prstGeom prst="rect">
            <a:avLst/>
          </a:prstGeom>
          <a:noFill/>
          <a:ln/>
        </p:spPr>
        <p:txBody>
          <a:bodyPr wrap="square" lIns="0" tIns="0" rIns="0" bIns="0" rtlCol="0" anchor="t"/>
          <a:lstStyle/>
          <a:p>
            <a:pPr indent="0" marL="0">
              <a:buNone/>
            </a:pPr>
            <a:r>
              <a:rPr lang="en-US" sz="1800" b="1" dirty="0">
                <a:solidFill>
                  <a:schemeClr val="accent3"/>
                </a:solidFill>
                <a:latin typeface="Cambria" pitchFamily="34" charset="0"/>
                <a:ea typeface="Cambria" pitchFamily="34" charset="-122"/>
                <a:cs typeface="Cambria" pitchFamily="34" charset="-120"/>
              </a:rPr>
              <a:t>Worth fixing?</a:t>
            </a:r>
            <a:endParaRPr lang="en-US" sz="1800" dirty="0"/>
          </a:p>
        </p:txBody>
      </p:sp>
      <p:sp>
        <p:nvSpPr>
          <p:cNvPr id="40" name="Text 38"/>
          <p:cNvSpPr txBox="1"/>
          <p:nvPr/>
        </p:nvSpPr>
        <p:spPr>
          <a:xfrm>
            <a:off x="8321040" y="4297680"/>
            <a:ext cx="3017520" cy="1097280"/>
          </a:xfrm>
          <a:prstGeom prst="rect">
            <a:avLst/>
          </a:prstGeom>
          <a:noFill/>
          <a:ln/>
        </p:spPr>
        <p:txBody>
          <a:bodyPr wrap="square" lIns="0" tIns="0" rIns="0" bIns="0" rtlCol="0" anchor="t"/>
          <a:lstStyle/>
          <a:p>
            <a:pPr indent="0" marL="0">
              <a:buNone/>
            </a:pPr>
            <a:r>
              <a:rPr lang="en-US" sz="1400" dirty="0">
                <a:solidFill>
                  <a:schemeClr val="tx2"/>
                </a:solidFill>
              </a:rPr>
              <a:t>Gain from mitigation vs extra measurements, compared at an equal shot budget</a:t>
            </a:r>
            <a:endParaRPr lang="en-US" sz="1400" dirty="0"/>
          </a:p>
        </p:txBody>
      </p:sp>
      <p:sp>
        <p:nvSpPr>
          <p:cNvPr id="41" name="Text 39"/>
          <p:cNvSpPr txBox="1"/>
          <p:nvPr/>
        </p:nvSpPr>
        <p:spPr>
          <a:xfrm>
            <a:off x="548640" y="5760720"/>
            <a:ext cx="11064240" cy="365760"/>
          </a:xfrm>
          <a:prstGeom prst="rect">
            <a:avLst/>
          </a:prstGeom>
          <a:noFill/>
          <a:ln/>
        </p:spPr>
        <p:txBody>
          <a:bodyPr wrap="square" lIns="0" tIns="0" rIns="0" bIns="0" rtlCol="0" anchor="t"/>
          <a:lstStyle/>
          <a:p>
            <a:pPr indent="0" marL="0">
              <a:buNone/>
            </a:pPr>
            <a:r>
              <a:rPr lang="en-US" sz="1400" i="1" dirty="0">
                <a:solidFill>
                  <a:schemeClr val="tx2"/>
                </a:solidFill>
              </a:rPr>
              <a:t>The instability flag and all thresholds were fixed before the test split was opened.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Workflow: input → processing → output</a:t>
            </a:r>
            <a:endParaRPr lang="en-US" sz="3000" dirty="0"/>
          </a:p>
        </p:txBody>
      </p:sp>
      <p:sp>
        <p:nvSpPr>
          <p:cNvPr id="3" name="card"/>
          <p:cNvSpPr/>
          <p:nvPr/>
        </p:nvSpPr>
        <p:spPr>
          <a:xfrm>
            <a:off x="548640" y="1280160"/>
            <a:ext cx="3474720" cy="2286000"/>
          </a:xfrm>
          <a:prstGeom prst="roundRect">
            <a:avLst>
              <a:gd name="adj" fmla="val 3200"/>
            </a:avLst>
          </a:prstGeom>
          <a:solidFill>
            <a:schemeClr val="bg1"/>
          </a:solidFill>
          <a:ln w="9525">
            <a:solidFill>
              <a:srgbClr val="D8DEE8"/>
            </a:solidFill>
            <a:prstDash val="solid"/>
          </a:ln>
        </p:spPr>
      </p:sp>
      <p:sp>
        <p:nvSpPr>
          <p:cNvPr id="4" name="Text 2"/>
          <p:cNvSpPr txBox="1"/>
          <p:nvPr/>
        </p:nvSpPr>
        <p:spPr>
          <a:xfrm>
            <a:off x="777240" y="1444752"/>
            <a:ext cx="3017520" cy="411480"/>
          </a:xfrm>
          <a:prstGeom prst="rect">
            <a:avLst/>
          </a:prstGeom>
          <a:noFill/>
          <a:ln/>
        </p:spPr>
        <p:txBody>
          <a:bodyPr wrap="square" lIns="0" tIns="0" rIns="0" bIns="0" rtlCol="0" anchor="t"/>
          <a:lstStyle/>
          <a:p>
            <a:pPr indent="0" marL="0">
              <a:buNone/>
            </a:pPr>
            <a:r>
              <a:rPr lang="en-US" sz="1800" b="1" dirty="0">
                <a:solidFill>
                  <a:schemeClr val="accent5"/>
                </a:solidFill>
                <a:latin typeface="Cambria" pitchFamily="34" charset="0"/>
                <a:ea typeface="Cambria" pitchFamily="34" charset="-122"/>
                <a:cs typeface="Cambria" pitchFamily="34" charset="-120"/>
              </a:rPr>
              <a:t>1  Input</a:t>
            </a:r>
            <a:endParaRPr lang="en-US" sz="1800" dirty="0"/>
          </a:p>
        </p:txBody>
      </p:sp>
      <p:sp>
        <p:nvSpPr>
          <p:cNvPr id="5" name="Text 3"/>
          <p:cNvSpPr txBox="1"/>
          <p:nvPr/>
        </p:nvSpPr>
        <p:spPr>
          <a:xfrm>
            <a:off x="777240" y="1920240"/>
            <a:ext cx="3063240" cy="1554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4A5568"/>
                </a:solidFill>
              </a:rPr>
              <a:t>LIDC-IDRI radiologist outlines + suspicion ratings</a:t>
            </a:r>
            <a:endParaRPr lang="en-US" sz="1400" dirty="0"/>
          </a:p>
          <a:p>
            <a:pPr marL="342900" indent="-342900">
              <a:spcAft>
                <a:spcPts val="600"/>
              </a:spcAft>
              <a:buSzPct val="100000"/>
              <a:buChar char="•"/>
            </a:pPr>
            <a:r>
              <a:rPr lang="en-US" sz="1300" dirty="0">
                <a:solidFill>
                  <a:srgbClr val="4A5568"/>
                </a:solidFill>
              </a:rPr>
              <a:t>No CT images used</a:t>
            </a:r>
            <a:endParaRPr lang="en-US" sz="1400" dirty="0"/>
          </a:p>
          <a:p>
            <a:pPr marL="342900" indent="-342900">
              <a:spcAft>
                <a:spcPts val="600"/>
              </a:spcAft>
              <a:buSzPct val="100000"/>
              <a:buChar char="•"/>
            </a:pPr>
            <a:r>
              <a:rPr lang="en-US" sz="1300" dirty="0">
                <a:solidFill>
                  <a:srgbClr val="4A5568"/>
                </a:solidFill>
              </a:rPr>
              <a:t>879 nodules · 535 patients</a:t>
            </a:r>
            <a:endParaRPr lang="en-US" sz="1400" dirty="0"/>
          </a:p>
        </p:txBody>
      </p:sp>
      <p:sp>
        <p:nvSpPr>
          <p:cNvPr id="6" name="card"/>
          <p:cNvSpPr/>
          <p:nvPr/>
        </p:nvSpPr>
        <p:spPr>
          <a:xfrm>
            <a:off x="4343400" y="1280160"/>
            <a:ext cx="3474720" cy="2286000"/>
          </a:xfrm>
          <a:prstGeom prst="roundRect">
            <a:avLst>
              <a:gd name="adj" fmla="val 3200"/>
            </a:avLst>
          </a:prstGeom>
          <a:solidFill>
            <a:schemeClr val="bg1"/>
          </a:solidFill>
          <a:ln w="9525">
            <a:solidFill>
              <a:srgbClr val="D8DEE8"/>
            </a:solidFill>
            <a:prstDash val="solid"/>
          </a:ln>
        </p:spPr>
      </p:sp>
      <p:sp>
        <p:nvSpPr>
          <p:cNvPr id="7" name="Text 5"/>
          <p:cNvSpPr txBox="1"/>
          <p:nvPr/>
        </p:nvSpPr>
        <p:spPr>
          <a:xfrm>
            <a:off x="4572000" y="1444752"/>
            <a:ext cx="3017520" cy="411480"/>
          </a:xfrm>
          <a:prstGeom prst="rect">
            <a:avLst/>
          </a:prstGeom>
          <a:noFill/>
          <a:ln/>
        </p:spPr>
        <p:txBody>
          <a:bodyPr wrap="square" lIns="0" tIns="0" rIns="0" bIns="0" rtlCol="0" anchor="t"/>
          <a:lstStyle/>
          <a:p>
            <a:pPr indent="0" marL="0">
              <a:buNone/>
            </a:pPr>
            <a:r>
              <a:rPr lang="en-US" sz="1800" b="1" dirty="0">
                <a:solidFill>
                  <a:schemeClr val="accent5"/>
                </a:solidFill>
                <a:latin typeface="Cambria" pitchFamily="34" charset="0"/>
                <a:ea typeface="Cambria" pitchFamily="34" charset="-122"/>
                <a:cs typeface="Cambria" pitchFamily="34" charset="-120"/>
              </a:rPr>
              <a:t>2  Processing</a:t>
            </a:r>
            <a:endParaRPr lang="en-US" sz="1800" dirty="0"/>
          </a:p>
        </p:txBody>
      </p:sp>
      <p:sp>
        <p:nvSpPr>
          <p:cNvPr id="8" name="Text 6"/>
          <p:cNvSpPr txBox="1"/>
          <p:nvPr/>
        </p:nvSpPr>
        <p:spPr>
          <a:xfrm>
            <a:off x="4572000" y="1920240"/>
            <a:ext cx="3063240" cy="1554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4A5568"/>
                </a:solidFill>
              </a:rPr>
              <a:t>Clean: ≥3 radiologists, remove rating 3</a:t>
            </a:r>
            <a:endParaRPr lang="en-US" sz="1400" dirty="0"/>
          </a:p>
          <a:p>
            <a:pPr marL="342900" indent="-342900">
              <a:spcAft>
                <a:spcPts val="600"/>
              </a:spcAft>
              <a:buSzPct val="100000"/>
              <a:buChar char="•"/>
            </a:pPr>
            <a:r>
              <a:rPr lang="en-US" sz="1300" dirty="0">
                <a:solidFill>
                  <a:srgbClr val="4A5568"/>
                </a:solidFill>
              </a:rPr>
              <a:t>Split by patient 60/20/20</a:t>
            </a:r>
            <a:endParaRPr lang="en-US" sz="1400" dirty="0"/>
          </a:p>
          <a:p>
            <a:pPr marL="342900" indent="-342900">
              <a:spcAft>
                <a:spcPts val="600"/>
              </a:spcAft>
              <a:buSzPct val="100000"/>
              <a:buChar char="•"/>
            </a:pPr>
            <a:r>
              <a:rPr lang="en-US" sz="1300" dirty="0">
                <a:solidFill>
                  <a:srgbClr val="4A5568"/>
                </a:solidFill>
              </a:rPr>
              <a:t>4 features → 4 qubit angles</a:t>
            </a:r>
            <a:endParaRPr lang="en-US" sz="1400" dirty="0"/>
          </a:p>
        </p:txBody>
      </p:sp>
      <p:sp>
        <p:nvSpPr>
          <p:cNvPr id="9" name="card"/>
          <p:cNvSpPr/>
          <p:nvPr/>
        </p:nvSpPr>
        <p:spPr>
          <a:xfrm>
            <a:off x="8138160" y="1280160"/>
            <a:ext cx="3474720" cy="2286000"/>
          </a:xfrm>
          <a:prstGeom prst="roundRect">
            <a:avLst>
              <a:gd name="adj" fmla="val 3200"/>
            </a:avLst>
          </a:prstGeom>
          <a:solidFill>
            <a:schemeClr val="bg1"/>
          </a:solidFill>
          <a:ln w="9525">
            <a:solidFill>
              <a:srgbClr val="D8DEE8"/>
            </a:solidFill>
            <a:prstDash val="solid"/>
          </a:ln>
        </p:spPr>
      </p:sp>
      <p:sp>
        <p:nvSpPr>
          <p:cNvPr id="10" name="Text 8"/>
          <p:cNvSpPr txBox="1"/>
          <p:nvPr/>
        </p:nvSpPr>
        <p:spPr>
          <a:xfrm>
            <a:off x="8366760" y="1444752"/>
            <a:ext cx="3017520" cy="41148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3  Models</a:t>
            </a:r>
            <a:endParaRPr lang="en-US" sz="1800" dirty="0"/>
          </a:p>
        </p:txBody>
      </p:sp>
      <p:sp>
        <p:nvSpPr>
          <p:cNvPr id="11" name="Text 9"/>
          <p:cNvSpPr txBox="1"/>
          <p:nvPr/>
        </p:nvSpPr>
        <p:spPr>
          <a:xfrm>
            <a:off x="8366760" y="1920240"/>
            <a:ext cx="3063240" cy="1554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4A5568"/>
                </a:solidFill>
              </a:rPr>
              <a:t>Quantum: 4 qubits, 12 trained angles, 6 entangling gates</a:t>
            </a:r>
            <a:endParaRPr lang="en-US" sz="1400" dirty="0"/>
          </a:p>
          <a:p>
            <a:pPr marL="342900" indent="-342900">
              <a:spcAft>
                <a:spcPts val="600"/>
              </a:spcAft>
              <a:buSzPct val="100000"/>
              <a:buChar char="•"/>
            </a:pPr>
            <a:r>
              <a:rPr lang="en-US" sz="1300" dirty="0">
                <a:solidFill>
                  <a:srgbClr val="4A5568"/>
                </a:solidFill>
              </a:rPr>
              <a:t>Classical: logistic regression, SVM, gradient boosting</a:t>
            </a:r>
            <a:endParaRPr lang="en-US" sz="1400" dirty="0"/>
          </a:p>
          <a:p>
            <a:pPr marL="342900" indent="-342900">
              <a:spcAft>
                <a:spcPts val="600"/>
              </a:spcAft>
              <a:buSzPct val="100000"/>
              <a:buChar char="•"/>
            </a:pPr>
            <a:r>
              <a:rPr lang="en-US" sz="1300" dirty="0">
                <a:solidFill>
                  <a:srgbClr val="4A5568"/>
                </a:solidFill>
              </a:rPr>
              <a:t>Noise N0–N4, 5 runs, ± mitigation</a:t>
            </a:r>
            <a:endParaRPr lang="en-US" sz="1400" dirty="0"/>
          </a:p>
        </p:txBody>
      </p:sp>
      <p:sp>
        <p:nvSpPr>
          <p:cNvPr id="12" name="card"/>
          <p:cNvSpPr/>
          <p:nvPr/>
        </p:nvSpPr>
        <p:spPr>
          <a:xfrm>
            <a:off x="548640" y="3840480"/>
            <a:ext cx="3474720" cy="2286000"/>
          </a:xfrm>
          <a:prstGeom prst="roundRect">
            <a:avLst>
              <a:gd name="adj" fmla="val 3200"/>
            </a:avLst>
          </a:prstGeom>
          <a:solidFill>
            <a:schemeClr val="bg1"/>
          </a:solidFill>
          <a:ln w="9525">
            <a:solidFill>
              <a:srgbClr val="D8DEE8"/>
            </a:solidFill>
            <a:prstDash val="solid"/>
          </a:ln>
        </p:spPr>
      </p:sp>
      <p:sp>
        <p:nvSpPr>
          <p:cNvPr id="13" name="Text 11"/>
          <p:cNvSpPr txBox="1"/>
          <p:nvPr/>
        </p:nvSpPr>
        <p:spPr>
          <a:xfrm>
            <a:off x="777240" y="4005072"/>
            <a:ext cx="3017520" cy="411480"/>
          </a:xfrm>
          <a:prstGeom prst="rect">
            <a:avLst/>
          </a:prstGeom>
          <a:noFill/>
          <a:ln/>
        </p:spPr>
        <p:txBody>
          <a:bodyPr wrap="square" lIns="0" tIns="0" rIns="0" bIns="0" rtlCol="0" anchor="t"/>
          <a:lstStyle/>
          <a:p>
            <a:pPr indent="0" marL="0">
              <a:buNone/>
            </a:pPr>
            <a:r>
              <a:rPr lang="en-US" sz="1800" b="1" dirty="0">
                <a:solidFill>
                  <a:schemeClr val="accent3"/>
                </a:solidFill>
                <a:latin typeface="Cambria" pitchFamily="34" charset="0"/>
                <a:ea typeface="Cambria" pitchFamily="34" charset="-122"/>
                <a:cs typeface="Cambria" pitchFamily="34" charset="-120"/>
              </a:rPr>
              <a:t>6  Website</a:t>
            </a:r>
            <a:endParaRPr lang="en-US" sz="1800" dirty="0"/>
          </a:p>
        </p:txBody>
      </p:sp>
      <p:sp>
        <p:nvSpPr>
          <p:cNvPr id="14" name="Text 12"/>
          <p:cNvSpPr txBox="1"/>
          <p:nvPr/>
        </p:nvSpPr>
        <p:spPr>
          <a:xfrm>
            <a:off x="777240" y="4480560"/>
            <a:ext cx="3063240" cy="1554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4A5568"/>
                </a:solidFill>
              </a:rPr>
              <a:t>Case explorer with radiologist outlines</a:t>
            </a:r>
            <a:endParaRPr lang="en-US" sz="1400" dirty="0"/>
          </a:p>
          <a:p>
            <a:pPr marL="342900" indent="-342900">
              <a:spcAft>
                <a:spcPts val="600"/>
              </a:spcAft>
              <a:buSzPct val="100000"/>
              <a:buChar char="•"/>
            </a:pPr>
            <a:r>
              <a:rPr lang="en-US" sz="1300" dirty="0">
                <a:solidFill>
                  <a:srgbClr val="4A5568"/>
                </a:solidFill>
              </a:rPr>
              <a:t>Aggregate results + method and limits</a:t>
            </a:r>
            <a:endParaRPr lang="en-US" sz="1400" dirty="0"/>
          </a:p>
          <a:p>
            <a:pPr marL="342900" indent="-342900">
              <a:spcAft>
                <a:spcPts val="600"/>
              </a:spcAft>
              <a:buSzPct val="100000"/>
              <a:buChar char="•"/>
            </a:pPr>
            <a:r>
              <a:rPr lang="en-US" sz="1300" dirty="0">
                <a:solidFill>
                  <a:srgbClr val="4A5568"/>
                </a:solidFill>
              </a:rPr>
              <a:t>Replays saved runs (not live)</a:t>
            </a:r>
            <a:endParaRPr lang="en-US" sz="1400" dirty="0"/>
          </a:p>
        </p:txBody>
      </p:sp>
      <p:sp>
        <p:nvSpPr>
          <p:cNvPr id="15" name="card"/>
          <p:cNvSpPr/>
          <p:nvPr/>
        </p:nvSpPr>
        <p:spPr>
          <a:xfrm>
            <a:off x="4343400" y="3840480"/>
            <a:ext cx="3474720" cy="2286000"/>
          </a:xfrm>
          <a:prstGeom prst="roundRect">
            <a:avLst>
              <a:gd name="adj" fmla="val 3200"/>
            </a:avLst>
          </a:prstGeom>
          <a:solidFill>
            <a:schemeClr val="bg1"/>
          </a:solidFill>
          <a:ln w="9525">
            <a:solidFill>
              <a:srgbClr val="D8DEE8"/>
            </a:solidFill>
            <a:prstDash val="solid"/>
          </a:ln>
        </p:spPr>
      </p:sp>
      <p:sp>
        <p:nvSpPr>
          <p:cNvPr id="16" name="Text 14"/>
          <p:cNvSpPr txBox="1"/>
          <p:nvPr/>
        </p:nvSpPr>
        <p:spPr>
          <a:xfrm>
            <a:off x="4572000" y="4005072"/>
            <a:ext cx="3017520" cy="411480"/>
          </a:xfrm>
          <a:prstGeom prst="rect">
            <a:avLst/>
          </a:prstGeom>
          <a:noFill/>
          <a:ln/>
        </p:spPr>
        <p:txBody>
          <a:bodyPr wrap="square" lIns="0" tIns="0" rIns="0" bIns="0" rtlCol="0" anchor="t"/>
          <a:lstStyle/>
          <a:p>
            <a:pPr indent="0" marL="0">
              <a:buNone/>
            </a:pPr>
            <a:r>
              <a:rPr lang="en-US" sz="1800" b="1" dirty="0">
                <a:solidFill>
                  <a:schemeClr val="accent3"/>
                </a:solidFill>
                <a:latin typeface="Cambria" pitchFamily="34" charset="0"/>
                <a:ea typeface="Cambria" pitchFamily="34" charset="-122"/>
                <a:cs typeface="Cambria" pitchFamily="34" charset="-120"/>
              </a:rPr>
              <a:t>5  Output</a:t>
            </a:r>
            <a:endParaRPr lang="en-US" sz="1800" dirty="0"/>
          </a:p>
        </p:txBody>
      </p:sp>
      <p:sp>
        <p:nvSpPr>
          <p:cNvPr id="17" name="Text 15"/>
          <p:cNvSpPr txBox="1"/>
          <p:nvPr/>
        </p:nvSpPr>
        <p:spPr>
          <a:xfrm>
            <a:off x="4572000" y="4480560"/>
            <a:ext cx="3063240" cy="1554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4A5568"/>
                </a:solidFill>
              </a:rPr>
              <a:t>Per nodule: noise-free, noisy, mitigated score + flag</a:t>
            </a:r>
            <a:endParaRPr lang="en-US" sz="1400" dirty="0"/>
          </a:p>
          <a:p>
            <a:pPr marL="342900" indent="-342900">
              <a:spcAft>
                <a:spcPts val="600"/>
              </a:spcAft>
              <a:buSzPct val="100000"/>
              <a:buChar char="•"/>
            </a:pPr>
            <a:r>
              <a:rPr lang="en-US" sz="1300" dirty="0">
                <a:solidFill>
                  <a:srgbClr val="4A5568"/>
                </a:solidFill>
              </a:rPr>
              <a:t>Overall: 85.7% vs 85.2% accuracy</a:t>
            </a:r>
            <a:endParaRPr lang="en-US" sz="1400" dirty="0"/>
          </a:p>
          <a:p>
            <a:pPr marL="342900" indent="-342900">
              <a:spcAft>
                <a:spcPts val="600"/>
              </a:spcAft>
              <a:buSzPct val="100000"/>
              <a:buChar char="•"/>
            </a:pPr>
            <a:r>
              <a:rPr lang="en-US" sz="1300" dirty="0">
                <a:solidFill>
                  <a:srgbClr val="4A5568"/>
                </a:solidFill>
              </a:rPr>
              <a:t>Files: results JSON, charts, model settings</a:t>
            </a:r>
            <a:endParaRPr lang="en-US" sz="1400" dirty="0"/>
          </a:p>
        </p:txBody>
      </p:sp>
      <p:sp>
        <p:nvSpPr>
          <p:cNvPr id="18" name="card"/>
          <p:cNvSpPr/>
          <p:nvPr/>
        </p:nvSpPr>
        <p:spPr>
          <a:xfrm>
            <a:off x="8138160" y="3840480"/>
            <a:ext cx="3474720" cy="2286000"/>
          </a:xfrm>
          <a:prstGeom prst="roundRect">
            <a:avLst>
              <a:gd name="adj" fmla="val 3200"/>
            </a:avLst>
          </a:prstGeom>
          <a:solidFill>
            <a:schemeClr val="bg1"/>
          </a:solidFill>
          <a:ln w="9525">
            <a:solidFill>
              <a:srgbClr val="D8DEE8"/>
            </a:solidFill>
            <a:prstDash val="solid"/>
          </a:ln>
        </p:spPr>
      </p:sp>
      <p:sp>
        <p:nvSpPr>
          <p:cNvPr id="19" name="Text 17"/>
          <p:cNvSpPr txBox="1"/>
          <p:nvPr/>
        </p:nvSpPr>
        <p:spPr>
          <a:xfrm>
            <a:off x="8366760" y="4005072"/>
            <a:ext cx="3017520" cy="411480"/>
          </a:xfrm>
          <a:prstGeom prst="rect">
            <a:avLst/>
          </a:prstGeom>
          <a:noFill/>
          <a:ln/>
        </p:spPr>
        <p:txBody>
          <a:bodyPr wrap="square" lIns="0" tIns="0" rIns="0" bIns="0" rtlCol="0" anchor="t"/>
          <a:lstStyle/>
          <a:p>
            <a:pPr indent="0" marL="0">
              <a:buNone/>
            </a:pPr>
            <a:r>
              <a:rPr lang="en-US" sz="1800" b="1" dirty="0">
                <a:solidFill>
                  <a:schemeClr val="accent2"/>
                </a:solidFill>
                <a:latin typeface="Cambria" pitchFamily="34" charset="0"/>
                <a:ea typeface="Cambria" pitchFamily="34" charset="-122"/>
                <a:cs typeface="Cambria" pitchFamily="34" charset="-120"/>
              </a:rPr>
              <a:t>4  Compare and measure</a:t>
            </a:r>
            <a:endParaRPr lang="en-US" sz="1800" dirty="0"/>
          </a:p>
        </p:txBody>
      </p:sp>
      <p:sp>
        <p:nvSpPr>
          <p:cNvPr id="20" name="Text 18"/>
          <p:cNvSpPr txBox="1"/>
          <p:nvPr/>
        </p:nvSpPr>
        <p:spPr>
          <a:xfrm>
            <a:off x="8366760" y="4480560"/>
            <a:ext cx="3063240" cy="15544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4A5568"/>
                </a:solidFill>
              </a:rPr>
              <a:t>Accuracy: quantum vs classical</a:t>
            </a:r>
            <a:endParaRPr lang="en-US" sz="1400" dirty="0"/>
          </a:p>
          <a:p>
            <a:pPr marL="342900" indent="-342900">
              <a:spcAft>
                <a:spcPts val="600"/>
              </a:spcAft>
              <a:buSzPct val="100000"/>
              <a:buChar char="•"/>
            </a:pPr>
            <a:r>
              <a:rPr lang="en-US" sz="1300" dirty="0">
                <a:solidFill>
                  <a:srgbClr val="4A5568"/>
                </a:solidFill>
              </a:rPr>
              <a:t>Decisions flipped by noise</a:t>
            </a:r>
            <a:endParaRPr lang="en-US" sz="1400" dirty="0"/>
          </a:p>
          <a:p>
            <a:pPr marL="342900" indent="-342900">
              <a:spcAft>
                <a:spcPts val="600"/>
              </a:spcAft>
              <a:buSzPct val="100000"/>
              <a:buChar char="•"/>
            </a:pPr>
            <a:r>
              <a:rPr lang="en-US" sz="1300" dirty="0">
                <a:solidFill>
                  <a:srgbClr val="4A5568"/>
                </a:solidFill>
              </a:rPr>
              <a:t>Mitigation gain vs cost; unstable cases</a:t>
            </a:r>
            <a:endParaRPr lang="en-US" sz="1400" dirty="0"/>
          </a:p>
        </p:txBody>
      </p:sp>
      <p:sp>
        <p:nvSpPr>
          <p:cNvPr id="21" name="flow-arrow"/>
          <p:cNvSpPr/>
          <p:nvPr/>
        </p:nvSpPr>
        <p:spPr>
          <a:xfrm>
            <a:off x="4041648" y="2423160"/>
            <a:ext cx="283464" cy="0"/>
          </a:xfrm>
          <a:prstGeom prst="line">
            <a:avLst/>
          </a:prstGeom>
          <a:noFill/>
          <a:ln w="25400">
            <a:solidFill>
              <a:srgbClr val="8A94A6"/>
            </a:solidFill>
            <a:prstDash val="solid"/>
            <a:tailEnd type="triangle"/>
          </a:ln>
        </p:spPr>
      </p:sp>
      <p:sp>
        <p:nvSpPr>
          <p:cNvPr id="22" name="flow-arrow"/>
          <p:cNvSpPr/>
          <p:nvPr/>
        </p:nvSpPr>
        <p:spPr>
          <a:xfrm>
            <a:off x="7836408" y="2423160"/>
            <a:ext cx="283464" cy="0"/>
          </a:xfrm>
          <a:prstGeom prst="line">
            <a:avLst/>
          </a:prstGeom>
          <a:noFill/>
          <a:ln w="25400">
            <a:solidFill>
              <a:srgbClr val="8A94A6"/>
            </a:solidFill>
            <a:prstDash val="solid"/>
            <a:tailEnd type="triangle"/>
          </a:ln>
        </p:spPr>
      </p:sp>
      <p:sp>
        <p:nvSpPr>
          <p:cNvPr id="23" name="flow-arrow"/>
          <p:cNvSpPr/>
          <p:nvPr/>
        </p:nvSpPr>
        <p:spPr>
          <a:xfrm>
            <a:off x="9875520" y="3584448"/>
            <a:ext cx="0" cy="237744"/>
          </a:xfrm>
          <a:prstGeom prst="line">
            <a:avLst/>
          </a:prstGeom>
          <a:noFill/>
          <a:ln w="25400">
            <a:solidFill>
              <a:srgbClr val="8A94A6"/>
            </a:solidFill>
            <a:prstDash val="solid"/>
            <a:tailEnd type="triangle"/>
          </a:ln>
        </p:spPr>
      </p:sp>
      <p:sp>
        <p:nvSpPr>
          <p:cNvPr id="24" name="flow-arrow"/>
          <p:cNvSpPr/>
          <p:nvPr/>
        </p:nvSpPr>
        <p:spPr>
          <a:xfrm flipH="1">
            <a:off x="7836408" y="4983480"/>
            <a:ext cx="283464" cy="0"/>
          </a:xfrm>
          <a:prstGeom prst="line">
            <a:avLst/>
          </a:prstGeom>
          <a:noFill/>
          <a:ln w="25400">
            <a:solidFill>
              <a:srgbClr val="8A94A6"/>
            </a:solidFill>
            <a:prstDash val="solid"/>
            <a:tailEnd type="triangle"/>
          </a:ln>
        </p:spPr>
      </p:sp>
      <p:sp>
        <p:nvSpPr>
          <p:cNvPr id="25" name="flow-arrow"/>
          <p:cNvSpPr/>
          <p:nvPr/>
        </p:nvSpPr>
        <p:spPr>
          <a:xfrm flipH="1">
            <a:off x="4041648" y="4983480"/>
            <a:ext cx="283464" cy="0"/>
          </a:xfrm>
          <a:prstGeom prst="line">
            <a:avLst/>
          </a:prstGeom>
          <a:noFill/>
          <a:ln w="25400">
            <a:solidFill>
              <a:srgbClr val="8A94A6"/>
            </a:solidFill>
            <a:prstDash val="solid"/>
            <a:tailEnd type="triangle"/>
          </a:ln>
        </p:spPr>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Impact: knowing when a quantum answer can be trusted</a:t>
            </a:r>
            <a:endParaRPr lang="en-US" sz="3000" dirty="0"/>
          </a:p>
        </p:txBody>
      </p:sp>
      <p:sp>
        <p:nvSpPr>
          <p:cNvPr id="3" name="icon-circle"/>
          <p:cNvSpPr/>
          <p:nvPr/>
        </p:nvSpPr>
        <p:spPr>
          <a:xfrm>
            <a:off x="548640" y="1371600"/>
            <a:ext cx="685800" cy="685800"/>
          </a:xfrm>
          <a:prstGeom prst="ellipse">
            <a:avLst/>
          </a:prstGeom>
          <a:solidFill>
            <a:schemeClr val="accent1"/>
          </a:solidFill>
          <a:ln w="12700">
            <a:solidFill>
              <a:schemeClr val="accent1"/>
            </a:solidFill>
            <a:prstDash val="solid"/>
          </a:ln>
        </p:spPr>
      </p:sp>
      <p:pic>
        <p:nvPicPr>
          <p:cNvPr id="4" name="icon" descr="preencoded.png">    </p:cNvPr>
          <p:cNvPicPr>
            <a:picLocks noChangeAspect="1"/>
          </p:cNvPicPr>
          <p:nvPr/>
        </p:nvPicPr>
        <p:blipFill>
          <a:blip r:embed="rId1"/>
          <a:stretch>
            <a:fillRect/>
          </a:stretch>
        </p:blipFill>
        <p:spPr>
          <a:xfrm>
            <a:off x="713232" y="1536192"/>
            <a:ext cx="356616" cy="356616"/>
          </a:xfrm>
          <a:prstGeom prst="rect">
            <a:avLst/>
          </a:prstGeom>
        </p:spPr>
      </p:pic>
      <p:sp>
        <p:nvSpPr>
          <p:cNvPr id="5" name="Text 2"/>
          <p:cNvSpPr txBox="1"/>
          <p:nvPr/>
        </p:nvSpPr>
        <p:spPr>
          <a:xfrm>
            <a:off x="1463040" y="1371600"/>
            <a:ext cx="5120640" cy="36576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Quantum-ML researchers</a:t>
            </a:r>
            <a:endParaRPr lang="en-US" sz="1900" dirty="0"/>
          </a:p>
        </p:txBody>
      </p:sp>
      <p:sp>
        <p:nvSpPr>
          <p:cNvPr id="6" name="Text 3"/>
          <p:cNvSpPr txBox="1"/>
          <p:nvPr/>
        </p:nvSpPr>
        <p:spPr>
          <a:xfrm>
            <a:off x="1463040" y="1755648"/>
            <a:ext cx="5120640" cy="731520"/>
          </a:xfrm>
          <a:prstGeom prst="rect">
            <a:avLst/>
          </a:prstGeom>
          <a:noFill/>
          <a:ln/>
        </p:spPr>
        <p:txBody>
          <a:bodyPr wrap="square" lIns="0" tIns="0" rIns="0" bIns="0" rtlCol="0" anchor="t"/>
          <a:lstStyle/>
          <a:p>
            <a:pPr indent="0" marL="0">
              <a:buNone/>
            </a:pPr>
            <a:r>
              <a:rPr lang="en-US" sz="1500" dirty="0">
                <a:solidFill>
                  <a:schemeClr val="tx2"/>
                </a:solidFill>
              </a:rPr>
              <a:t>See, case by case, where noise changes a model's decision before trusting it on hardware.</a:t>
            </a:r>
            <a:endParaRPr lang="en-US" sz="1500" dirty="0"/>
          </a:p>
        </p:txBody>
      </p:sp>
      <p:sp>
        <p:nvSpPr>
          <p:cNvPr id="7" name="icon-circle"/>
          <p:cNvSpPr/>
          <p:nvPr/>
        </p:nvSpPr>
        <p:spPr>
          <a:xfrm>
            <a:off x="548640" y="2834640"/>
            <a:ext cx="685800" cy="685800"/>
          </a:xfrm>
          <a:prstGeom prst="ellipse">
            <a:avLst/>
          </a:prstGeom>
          <a:solidFill>
            <a:schemeClr val="accent5"/>
          </a:solidFill>
          <a:ln w="12700">
            <a:solidFill>
              <a:schemeClr val="accent5"/>
            </a:solidFill>
            <a:prstDash val="solid"/>
          </a:ln>
        </p:spPr>
      </p:sp>
      <p:pic>
        <p:nvPicPr>
          <p:cNvPr id="8" name="icon" descr="preencoded.png">    </p:cNvPr>
          <p:cNvPicPr>
            <a:picLocks noChangeAspect="1"/>
          </p:cNvPicPr>
          <p:nvPr/>
        </p:nvPicPr>
        <p:blipFill>
          <a:blip r:embed="rId2"/>
          <a:stretch>
            <a:fillRect/>
          </a:stretch>
        </p:blipFill>
        <p:spPr>
          <a:xfrm>
            <a:off x="713232" y="2999232"/>
            <a:ext cx="356616" cy="356616"/>
          </a:xfrm>
          <a:prstGeom prst="rect">
            <a:avLst/>
          </a:prstGeom>
        </p:spPr>
      </p:pic>
      <p:sp>
        <p:nvSpPr>
          <p:cNvPr id="9" name="Text 5"/>
          <p:cNvSpPr txBox="1"/>
          <p:nvPr/>
        </p:nvSpPr>
        <p:spPr>
          <a:xfrm>
            <a:off x="1463040" y="2834640"/>
            <a:ext cx="5120640" cy="36576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Students and educators</a:t>
            </a:r>
            <a:endParaRPr lang="en-US" sz="1900" dirty="0"/>
          </a:p>
        </p:txBody>
      </p:sp>
      <p:sp>
        <p:nvSpPr>
          <p:cNvPr id="10" name="Text 6"/>
          <p:cNvSpPr txBox="1"/>
          <p:nvPr/>
        </p:nvSpPr>
        <p:spPr>
          <a:xfrm>
            <a:off x="1463040" y="3218688"/>
            <a:ext cx="5120640" cy="731520"/>
          </a:xfrm>
          <a:prstGeom prst="rect">
            <a:avLst/>
          </a:prstGeom>
          <a:noFill/>
          <a:ln/>
        </p:spPr>
        <p:txBody>
          <a:bodyPr wrap="square" lIns="0" tIns="0" rIns="0" bIns="0" rtlCol="0" anchor="t"/>
          <a:lstStyle/>
          <a:p>
            <a:pPr indent="0" marL="0">
              <a:buNone/>
            </a:pPr>
            <a:r>
              <a:rPr lang="en-US" sz="1500" dirty="0">
                <a:solidFill>
                  <a:schemeClr val="tx2"/>
                </a:solidFill>
              </a:rPr>
              <a:t>A concrete, honest example of noise, mitigation and their trade-offs on real data.</a:t>
            </a:r>
            <a:endParaRPr lang="en-US" sz="1500" dirty="0"/>
          </a:p>
        </p:txBody>
      </p:sp>
      <p:sp>
        <p:nvSpPr>
          <p:cNvPr id="11" name="icon-circle"/>
          <p:cNvSpPr/>
          <p:nvPr/>
        </p:nvSpPr>
        <p:spPr>
          <a:xfrm>
            <a:off x="548640" y="4297680"/>
            <a:ext cx="685800" cy="685800"/>
          </a:xfrm>
          <a:prstGeom prst="ellipse">
            <a:avLst/>
          </a:prstGeom>
          <a:solidFill>
            <a:schemeClr val="accent3"/>
          </a:solidFill>
          <a:ln w="12700">
            <a:solidFill>
              <a:schemeClr val="accent3"/>
            </a:solidFill>
            <a:prstDash val="solid"/>
          </a:ln>
        </p:spPr>
      </p:sp>
      <p:pic>
        <p:nvPicPr>
          <p:cNvPr id="12" name="icon" descr="preencoded.png">    </p:cNvPr>
          <p:cNvPicPr>
            <a:picLocks noChangeAspect="1"/>
          </p:cNvPicPr>
          <p:nvPr/>
        </p:nvPicPr>
        <p:blipFill>
          <a:blip r:embed="rId3"/>
          <a:stretch>
            <a:fillRect/>
          </a:stretch>
        </p:blipFill>
        <p:spPr>
          <a:xfrm>
            <a:off x="713232" y="4462272"/>
            <a:ext cx="356616" cy="356616"/>
          </a:xfrm>
          <a:prstGeom prst="rect">
            <a:avLst/>
          </a:prstGeom>
        </p:spPr>
      </p:pic>
      <p:sp>
        <p:nvSpPr>
          <p:cNvPr id="13" name="Text 8"/>
          <p:cNvSpPr txBox="1"/>
          <p:nvPr/>
        </p:nvSpPr>
        <p:spPr>
          <a:xfrm>
            <a:off x="1463040" y="4297680"/>
            <a:ext cx="5120640" cy="36576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Hardware and tooling teams</a:t>
            </a:r>
            <a:endParaRPr lang="en-US" sz="1900" dirty="0"/>
          </a:p>
        </p:txBody>
      </p:sp>
      <p:sp>
        <p:nvSpPr>
          <p:cNvPr id="14" name="Text 9"/>
          <p:cNvSpPr txBox="1"/>
          <p:nvPr/>
        </p:nvSpPr>
        <p:spPr>
          <a:xfrm>
            <a:off x="1463040" y="4681728"/>
            <a:ext cx="5120640" cy="731520"/>
          </a:xfrm>
          <a:prstGeom prst="rect">
            <a:avLst/>
          </a:prstGeom>
          <a:noFill/>
          <a:ln/>
        </p:spPr>
        <p:txBody>
          <a:bodyPr wrap="square" lIns="0" tIns="0" rIns="0" bIns="0" rtlCol="0" anchor="t"/>
          <a:lstStyle/>
          <a:p>
            <a:pPr indent="0" marL="0">
              <a:buNone/>
            </a:pPr>
            <a:r>
              <a:rPr lang="en-US" sz="1500" dirty="0">
                <a:solidFill>
                  <a:schemeClr val="tx2"/>
                </a:solidFill>
              </a:rPr>
              <a:t>A repeatable way to measure what a mitigation method buys and what it costs.</a:t>
            </a:r>
            <a:endParaRPr lang="en-US" sz="1500" dirty="0"/>
          </a:p>
        </p:txBody>
      </p:sp>
      <p:sp>
        <p:nvSpPr>
          <p:cNvPr id="15" name="card"/>
          <p:cNvSpPr/>
          <p:nvPr/>
        </p:nvSpPr>
        <p:spPr>
          <a:xfrm>
            <a:off x="7040880" y="1371600"/>
            <a:ext cx="4572000" cy="4480560"/>
          </a:xfrm>
          <a:prstGeom prst="roundRect">
            <a:avLst>
              <a:gd name="adj" fmla="val 1633"/>
            </a:avLst>
          </a:prstGeom>
          <a:solidFill>
            <a:schemeClr val="bg2"/>
          </a:solidFill>
          <a:ln w="9525">
            <a:solidFill>
              <a:schemeClr val="bg2"/>
            </a:solidFill>
            <a:prstDash val="solid"/>
          </a:ln>
        </p:spPr>
      </p:sp>
      <p:sp>
        <p:nvSpPr>
          <p:cNvPr id="16" name="Text 11"/>
          <p:cNvSpPr txBox="1"/>
          <p:nvPr/>
        </p:nvSpPr>
        <p:spPr>
          <a:xfrm>
            <a:off x="7315200" y="1600200"/>
            <a:ext cx="4023360" cy="36576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What it gives them</a:t>
            </a:r>
            <a:endParaRPr lang="en-US" sz="1800" dirty="0"/>
          </a:p>
        </p:txBody>
      </p:sp>
      <p:sp>
        <p:nvSpPr>
          <p:cNvPr id="17" name="Text 12"/>
          <p:cNvSpPr txBox="1"/>
          <p:nvPr/>
        </p:nvSpPr>
        <p:spPr>
          <a:xfrm>
            <a:off x="7315200" y="2103120"/>
            <a:ext cx="4023360" cy="30175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4A5568"/>
                </a:solidFill>
              </a:rPr>
              <a:t>A per-case warning when an answer is unstable under the tested noise</a:t>
            </a:r>
            <a:endParaRPr lang="en-US" sz="1400" dirty="0"/>
          </a:p>
          <a:p>
            <a:pPr marL="342900" indent="-342900">
              <a:spcAft>
                <a:spcPts val="600"/>
              </a:spcAft>
              <a:buSzPct val="100000"/>
              <a:buChar char="•"/>
            </a:pPr>
            <a:r>
              <a:rPr lang="en-US" sz="1500" dirty="0">
                <a:solidFill>
                  <a:srgbClr val="4A5568"/>
                </a:solidFill>
              </a:rPr>
              <a:t>The real cost of mitigation, not just its benefit</a:t>
            </a:r>
            <a:endParaRPr lang="en-US" sz="1400" dirty="0"/>
          </a:p>
          <a:p>
            <a:pPr marL="342900" indent="-342900">
              <a:spcAft>
                <a:spcPts val="600"/>
              </a:spcAft>
              <a:buSzPct val="100000"/>
              <a:buChar char="•"/>
            </a:pPr>
            <a:r>
              <a:rPr lang="en-US" sz="1500" dirty="0">
                <a:solidFill>
                  <a:srgbClr val="4A5568"/>
                </a:solidFill>
              </a:rPr>
              <a:t>Unfavourable cases shown, not hidden</a:t>
            </a:r>
            <a:endParaRPr lang="en-US" sz="1400" dirty="0"/>
          </a:p>
          <a:p>
            <a:pPr marL="342900" indent="-342900">
              <a:spcAft>
                <a:spcPts val="600"/>
              </a:spcAft>
              <a:buSzPct val="100000"/>
              <a:buChar char="•"/>
            </a:pPr>
            <a:r>
              <a:rPr lang="en-US" sz="1500" dirty="0">
                <a:solidFill>
                  <a:srgbClr val="4A5568"/>
                </a:solidFill>
              </a:rPr>
              <a:t>A method that transfers to any small quantum classifier and dataset</a:t>
            </a:r>
            <a:endParaRPr lang="en-US" sz="1400" dirty="0"/>
          </a:p>
        </p:txBody>
      </p:sp>
      <p:sp>
        <p:nvSpPr>
          <p:cNvPr id="18" name="Text 13"/>
          <p:cNvSpPr txBox="1"/>
          <p:nvPr/>
        </p:nvSpPr>
        <p:spPr>
          <a:xfrm>
            <a:off x="7315200" y="5257800"/>
            <a:ext cx="4023360" cy="365760"/>
          </a:xfrm>
          <a:prstGeom prst="rect">
            <a:avLst/>
          </a:prstGeom>
          <a:noFill/>
          <a:ln/>
        </p:spPr>
        <p:txBody>
          <a:bodyPr wrap="square" lIns="0" tIns="0" rIns="0" bIns="0" rtlCol="0" anchor="t"/>
          <a:lstStyle/>
          <a:p>
            <a:pPr indent="0" marL="0">
              <a:buNone/>
            </a:pPr>
            <a:r>
              <a:rPr lang="en-US" sz="1400" i="1" dirty="0">
                <a:solidFill>
                  <a:schemeClr val="accent2"/>
                </a:solidFill>
              </a:rPr>
              <a:t>Research tool, not a clinical product.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Noise and data constraints, handled explicitly</a:t>
            </a:r>
            <a:endParaRPr lang="en-US" sz="3000" dirty="0"/>
          </a:p>
        </p:txBody>
      </p:sp>
      <p:sp>
        <p:nvSpPr>
          <p:cNvPr id="3" name="card"/>
          <p:cNvSpPr/>
          <p:nvPr/>
        </p:nvSpPr>
        <p:spPr>
          <a:xfrm>
            <a:off x="548640" y="1325880"/>
            <a:ext cx="5440680" cy="3611880"/>
          </a:xfrm>
          <a:prstGeom prst="roundRect">
            <a:avLst>
              <a:gd name="adj" fmla="val 2025"/>
            </a:avLst>
          </a:prstGeom>
          <a:solidFill>
            <a:schemeClr val="bg2"/>
          </a:solidFill>
          <a:ln w="9525">
            <a:solidFill>
              <a:schemeClr val="bg2"/>
            </a:solidFill>
            <a:prstDash val="solid"/>
          </a:ln>
        </p:spPr>
      </p:sp>
      <p:sp>
        <p:nvSpPr>
          <p:cNvPr id="4" name="icon-circle"/>
          <p:cNvSpPr/>
          <p:nvPr/>
        </p:nvSpPr>
        <p:spPr>
          <a:xfrm>
            <a:off x="822960" y="1554480"/>
            <a:ext cx="640080" cy="640080"/>
          </a:xfrm>
          <a:prstGeom prst="ellipse">
            <a:avLst/>
          </a:prstGeom>
          <a:solidFill>
            <a:schemeClr val="accent2"/>
          </a:solidFill>
          <a:ln w="12700">
            <a:solidFill>
              <a:schemeClr val="accent2"/>
            </a:solidFill>
            <a:prstDash val="solid"/>
          </a:ln>
        </p:spPr>
      </p:sp>
      <p:pic>
        <p:nvPicPr>
          <p:cNvPr id="5" name="icon" descr="preencoded.png">    </p:cNvPr>
          <p:cNvPicPr>
            <a:picLocks noChangeAspect="1"/>
          </p:cNvPicPr>
          <p:nvPr/>
        </p:nvPicPr>
        <p:blipFill>
          <a:blip r:embed="rId1"/>
          <a:stretch>
            <a:fillRect/>
          </a:stretch>
        </p:blipFill>
        <p:spPr>
          <a:xfrm>
            <a:off x="976579" y="1708099"/>
            <a:ext cx="332842" cy="332842"/>
          </a:xfrm>
          <a:prstGeom prst="rect">
            <a:avLst/>
          </a:prstGeom>
        </p:spPr>
      </p:pic>
      <p:sp>
        <p:nvSpPr>
          <p:cNvPr id="6" name="Text 3"/>
          <p:cNvSpPr txBox="1"/>
          <p:nvPr/>
        </p:nvSpPr>
        <p:spPr>
          <a:xfrm>
            <a:off x="1645920" y="1645920"/>
            <a:ext cx="393192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Noise</a:t>
            </a:r>
            <a:endParaRPr lang="en-US" sz="2200" dirty="0"/>
          </a:p>
        </p:txBody>
      </p:sp>
      <p:sp>
        <p:nvSpPr>
          <p:cNvPr id="7" name="Text 4"/>
          <p:cNvSpPr txBox="1"/>
          <p:nvPr/>
        </p:nvSpPr>
        <p:spPr>
          <a:xfrm>
            <a:off x="868680" y="2377440"/>
            <a:ext cx="4846320" cy="24688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4A5568"/>
                </a:solidFill>
              </a:rPr>
              <a:t>5 documented settings separate readout noise from gate noise</a:t>
            </a:r>
            <a:endParaRPr lang="en-US" sz="1400" dirty="0"/>
          </a:p>
          <a:p>
            <a:pPr marL="342900" indent="-342900">
              <a:spcAft>
                <a:spcPts val="600"/>
              </a:spcAft>
              <a:buSzPct val="100000"/>
              <a:buChar char="•"/>
            </a:pPr>
            <a:r>
              <a:rPr lang="en-US" sz="1500" dirty="0">
                <a:solidFill>
                  <a:srgbClr val="4A5568"/>
                </a:solidFill>
              </a:rPr>
              <a:t>Every setting run 5 times with recorded seeds</a:t>
            </a:r>
            <a:endParaRPr lang="en-US" sz="1400" dirty="0"/>
          </a:p>
          <a:p>
            <a:pPr marL="342900" indent="-342900">
              <a:spcAft>
                <a:spcPts val="600"/>
              </a:spcAft>
              <a:buSzPct val="100000"/>
              <a:buChar char="•"/>
            </a:pPr>
            <a:r>
              <a:rPr lang="en-US" sz="1500" dirty="0">
                <a:solidFill>
                  <a:srgbClr val="4A5568"/>
                </a:solidFill>
              </a:rPr>
              <a:t>Mitigated results compared with raw results at an equal total shot count</a:t>
            </a:r>
            <a:endParaRPr lang="en-US" sz="1400" dirty="0"/>
          </a:p>
          <a:p>
            <a:pPr marL="342900" indent="-342900">
              <a:spcAft>
                <a:spcPts val="600"/>
              </a:spcAft>
              <a:buSzPct val="100000"/>
              <a:buChar char="•"/>
            </a:pPr>
            <a:r>
              <a:rPr lang="en-US" sz="1500" dirty="0">
                <a:solidFill>
                  <a:srgbClr val="4A5568"/>
                </a:solidFill>
              </a:rPr>
              <a:t>Out-of-range mitigated values kept, never clipped</a:t>
            </a:r>
            <a:endParaRPr lang="en-US" sz="1400" dirty="0"/>
          </a:p>
          <a:p>
            <a:pPr marL="342900" indent="-342900">
              <a:spcAft>
                <a:spcPts val="600"/>
              </a:spcAft>
              <a:buSzPct val="100000"/>
              <a:buChar char="•"/>
            </a:pPr>
            <a:r>
              <a:rPr lang="en-US" sz="1500" dirty="0">
                <a:solidFill>
                  <a:srgbClr val="4A5568"/>
                </a:solidFill>
              </a:rPr>
              <a:t>Instability flag declared before the test run</a:t>
            </a:r>
            <a:endParaRPr lang="en-US" sz="1400" dirty="0"/>
          </a:p>
        </p:txBody>
      </p:sp>
      <p:sp>
        <p:nvSpPr>
          <p:cNvPr id="8" name="card"/>
          <p:cNvSpPr/>
          <p:nvPr/>
        </p:nvSpPr>
        <p:spPr>
          <a:xfrm>
            <a:off x="6172200" y="1325880"/>
            <a:ext cx="5440680" cy="3611880"/>
          </a:xfrm>
          <a:prstGeom prst="roundRect">
            <a:avLst>
              <a:gd name="adj" fmla="val 2025"/>
            </a:avLst>
          </a:prstGeom>
          <a:solidFill>
            <a:schemeClr val="bg2"/>
          </a:solidFill>
          <a:ln w="9525">
            <a:solidFill>
              <a:schemeClr val="bg2"/>
            </a:solidFill>
            <a:prstDash val="solid"/>
          </a:ln>
        </p:spPr>
      </p:sp>
      <p:sp>
        <p:nvSpPr>
          <p:cNvPr id="9" name="icon-circle"/>
          <p:cNvSpPr/>
          <p:nvPr/>
        </p:nvSpPr>
        <p:spPr>
          <a:xfrm>
            <a:off x="6446520" y="1554480"/>
            <a:ext cx="640080" cy="640080"/>
          </a:xfrm>
          <a:prstGeom prst="ellipse">
            <a:avLst/>
          </a:prstGeom>
          <a:solidFill>
            <a:schemeClr val="accent5"/>
          </a:solidFill>
          <a:ln w="12700">
            <a:solidFill>
              <a:schemeClr val="accent5"/>
            </a:solidFill>
            <a:prstDash val="solid"/>
          </a:ln>
        </p:spPr>
      </p:sp>
      <p:pic>
        <p:nvPicPr>
          <p:cNvPr id="10" name="icon" descr="preencoded.png">    </p:cNvPr>
          <p:cNvPicPr>
            <a:picLocks noChangeAspect="1"/>
          </p:cNvPicPr>
          <p:nvPr/>
        </p:nvPicPr>
        <p:blipFill>
          <a:blip r:embed="rId2"/>
          <a:stretch>
            <a:fillRect/>
          </a:stretch>
        </p:blipFill>
        <p:spPr>
          <a:xfrm>
            <a:off x="6600139" y="1708099"/>
            <a:ext cx="332842" cy="332842"/>
          </a:xfrm>
          <a:prstGeom prst="rect">
            <a:avLst/>
          </a:prstGeom>
        </p:spPr>
      </p:pic>
      <p:sp>
        <p:nvSpPr>
          <p:cNvPr id="11" name="Text 7"/>
          <p:cNvSpPr txBox="1"/>
          <p:nvPr/>
        </p:nvSpPr>
        <p:spPr>
          <a:xfrm>
            <a:off x="7269480" y="1645920"/>
            <a:ext cx="3931920" cy="45720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Data</a:t>
            </a:r>
            <a:endParaRPr lang="en-US" sz="2200" dirty="0"/>
          </a:p>
        </p:txBody>
      </p:sp>
      <p:sp>
        <p:nvSpPr>
          <p:cNvPr id="12" name="Text 8"/>
          <p:cNvSpPr txBox="1"/>
          <p:nvPr/>
        </p:nvSpPr>
        <p:spPr>
          <a:xfrm>
            <a:off x="6492240" y="2377440"/>
            <a:ext cx="4846320" cy="246888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4A5568"/>
                </a:solidFill>
              </a:rPr>
              <a:t>Split by patient: no patient in two splits</a:t>
            </a:r>
            <a:endParaRPr lang="en-US" sz="1400" dirty="0"/>
          </a:p>
          <a:p>
            <a:pPr marL="342900" indent="-342900">
              <a:spcAft>
                <a:spcPts val="600"/>
              </a:spcAft>
              <a:buSzPct val="100000"/>
              <a:buChar char="•"/>
            </a:pPr>
            <a:r>
              <a:rPr lang="en-US" sz="1500" dirty="0">
                <a:solidFill>
                  <a:srgbClr val="4A5568"/>
                </a:solidFill>
              </a:rPr>
              <a:t>Labels stated as radiologist suspicion, not pathology</a:t>
            </a:r>
            <a:endParaRPr lang="en-US" sz="1400" dirty="0"/>
          </a:p>
          <a:p>
            <a:pPr marL="342900" indent="-342900">
              <a:spcAft>
                <a:spcPts val="600"/>
              </a:spcAft>
              <a:buSzPct val="100000"/>
              <a:buChar char="•"/>
            </a:pPr>
            <a:r>
              <a:rPr lang="en-US" sz="1500" dirty="0">
                <a:solidFill>
                  <a:srgbClr val="4A5568"/>
                </a:solidFill>
              </a:rPr>
              <a:t>Every exclusion counted and documented</a:t>
            </a:r>
            <a:endParaRPr lang="en-US" sz="1400" dirty="0"/>
          </a:p>
          <a:p>
            <a:pPr marL="342900" indent="-342900">
              <a:spcAft>
                <a:spcPts val="600"/>
              </a:spcAft>
              <a:buSzPct val="100000"/>
              <a:buChar char="•"/>
            </a:pPr>
            <a:r>
              <a:rPr lang="en-US" sz="1500" dirty="0">
                <a:solidFill>
                  <a:srgbClr val="4A5568"/>
                </a:solidFill>
              </a:rPr>
              <a:t>Scaling fitted on training data only</a:t>
            </a:r>
            <a:endParaRPr lang="en-US" sz="1400" dirty="0"/>
          </a:p>
          <a:p>
            <a:pPr marL="342900" indent="-342900">
              <a:spcAft>
                <a:spcPts val="600"/>
              </a:spcAft>
              <a:buSzPct val="100000"/>
              <a:buChar char="•"/>
            </a:pPr>
            <a:r>
              <a:rPr lang="en-US" sz="1500" dirty="0">
                <a:solidFill>
                  <a:srgbClr val="4A5568"/>
                </a:solidFill>
              </a:rPr>
              <a:t>Test split used exactly once</a:t>
            </a:r>
            <a:endParaRPr lang="en-US" sz="1400" dirty="0"/>
          </a:p>
        </p:txBody>
      </p:sp>
      <p:sp>
        <p:nvSpPr>
          <p:cNvPr id="13" name="example"/>
          <p:cNvSpPr/>
          <p:nvPr/>
        </p:nvSpPr>
        <p:spPr>
          <a:xfrm>
            <a:off x="548640" y="5166360"/>
            <a:ext cx="11064240" cy="960120"/>
          </a:xfrm>
          <a:prstGeom prst="roundRect">
            <a:avLst>
              <a:gd name="adj" fmla="val 7619"/>
            </a:avLst>
          </a:prstGeom>
          <a:solidFill>
            <a:schemeClr val="tx1"/>
          </a:solidFill>
          <a:ln w="9525">
            <a:solidFill>
              <a:schemeClr val="tx1"/>
            </a:solidFill>
            <a:prstDash val="solid"/>
          </a:ln>
        </p:spPr>
      </p:sp>
      <p:sp>
        <p:nvSpPr>
          <p:cNvPr id="14" name="Text 10"/>
          <p:cNvSpPr txBox="1"/>
          <p:nvPr/>
        </p:nvSpPr>
        <p:spPr>
          <a:xfrm>
            <a:off x="822960" y="5257800"/>
            <a:ext cx="10515600" cy="777240"/>
          </a:xfrm>
          <a:prstGeom prst="rect">
            <a:avLst/>
          </a:prstGeom>
          <a:noFill/>
          <a:ln/>
        </p:spPr>
        <p:txBody>
          <a:bodyPr wrap="square" lIns="0" tIns="0" rIns="0" bIns="0" rtlCol="0" anchor="ctr"/>
          <a:lstStyle/>
          <a:p>
            <a:pPr indent="0" marL="0">
              <a:buNone/>
            </a:pPr>
            <a:r>
              <a:rPr lang="en-US" sz="1500" b="1" dirty="0">
                <a:solidFill>
                  <a:srgbClr val="FFFFFF"/>
                </a:solidFill>
              </a:rPr>
              <a:t>Example from the test run:  </a:t>
            </a:r>
            <a:pPr indent="0" marL="0">
              <a:buNone/>
            </a:pPr>
            <a:r>
              <a:rPr lang="en-US" sz="1500" dirty="0">
                <a:solidFill>
                  <a:srgbClr val="C9D1E3"/>
                </a:solidFill>
              </a:rPr>
              <a:t>at the highest noise level 12 of 183 nodules became unstable. Our flag, fixed in advance and using only what a hardware user could see, caught 8 of them.</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Implementation fidelity: real circuits, traceable results</a:t>
            </a:r>
            <a:endParaRPr lang="en-US" sz="3000" dirty="0"/>
          </a:p>
        </p:txBody>
      </p:sp>
      <p:sp>
        <p:nvSpPr>
          <p:cNvPr id="3" name="card"/>
          <p:cNvSpPr/>
          <p:nvPr/>
        </p:nvSpPr>
        <p:spPr>
          <a:xfrm>
            <a:off x="548640" y="1325880"/>
            <a:ext cx="6035040" cy="3291840"/>
          </a:xfrm>
          <a:prstGeom prst="roundRect">
            <a:avLst>
              <a:gd name="adj" fmla="val 2222"/>
            </a:avLst>
          </a:prstGeom>
          <a:solidFill>
            <a:schemeClr val="bg2"/>
          </a:solidFill>
          <a:ln w="9525">
            <a:solidFill>
              <a:schemeClr val="bg2"/>
            </a:solidFill>
            <a:prstDash val="solid"/>
          </a:ln>
        </p:spPr>
      </p:sp>
      <p:sp>
        <p:nvSpPr>
          <p:cNvPr id="4" name="Text 2"/>
          <p:cNvSpPr txBox="1"/>
          <p:nvPr/>
        </p:nvSpPr>
        <p:spPr>
          <a:xfrm>
            <a:off x="822960" y="1463040"/>
            <a:ext cx="5486400" cy="36576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The 4-qubit circuit (Qiskit)</a:t>
            </a:r>
            <a:endParaRPr lang="en-US" sz="1600" dirty="0"/>
          </a:p>
        </p:txBody>
      </p:sp>
      <p:sp>
        <p:nvSpPr>
          <p:cNvPr id="5" name="wire"/>
          <p:cNvSpPr/>
          <p:nvPr/>
        </p:nvSpPr>
        <p:spPr>
          <a:xfrm>
            <a:off x="1280160" y="2103120"/>
            <a:ext cx="4937760" cy="0"/>
          </a:xfrm>
          <a:prstGeom prst="line">
            <a:avLst/>
          </a:prstGeom>
          <a:noFill/>
          <a:ln w="12700">
            <a:solidFill>
              <a:srgbClr val="4A5568"/>
            </a:solidFill>
            <a:prstDash val="solid"/>
          </a:ln>
        </p:spPr>
      </p:sp>
      <p:sp>
        <p:nvSpPr>
          <p:cNvPr id="6" name="Text 4"/>
          <p:cNvSpPr txBox="1"/>
          <p:nvPr/>
        </p:nvSpPr>
        <p:spPr>
          <a:xfrm>
            <a:off x="822960" y="1965960"/>
            <a:ext cx="411480" cy="274320"/>
          </a:xfrm>
          <a:prstGeom prst="rect">
            <a:avLst/>
          </a:prstGeom>
          <a:noFill/>
          <a:ln/>
        </p:spPr>
        <p:txBody>
          <a:bodyPr wrap="square" lIns="0" tIns="0" rIns="0" bIns="0" rtlCol="0" anchor="t"/>
          <a:lstStyle/>
          <a:p>
            <a:pPr indent="0" marL="0">
              <a:buNone/>
            </a:pPr>
            <a:r>
              <a:rPr lang="en-US" sz="1200" dirty="0">
                <a:solidFill>
                  <a:schemeClr val="tx2"/>
                </a:solidFill>
              </a:rPr>
              <a:t>q0</a:t>
            </a:r>
            <a:endParaRPr lang="en-US" sz="1200" dirty="0"/>
          </a:p>
        </p:txBody>
      </p:sp>
      <p:sp>
        <p:nvSpPr>
          <p:cNvPr id="7" name="gate"/>
          <p:cNvSpPr/>
          <p:nvPr/>
        </p:nvSpPr>
        <p:spPr>
          <a:xfrm>
            <a:off x="1417320" y="1920240"/>
            <a:ext cx="685800" cy="365760"/>
          </a:xfrm>
          <a:prstGeom prst="rect">
            <a:avLst/>
          </a:prstGeom>
          <a:solidFill>
            <a:srgbClr val="1F8A70"/>
          </a:solidFill>
          <a:ln w="12700">
            <a:solidFill>
              <a:srgbClr val="1F8A70"/>
            </a:solidFill>
            <a:prstDash val="solid"/>
          </a:ln>
        </p:spPr>
      </p:sp>
      <p:sp>
        <p:nvSpPr>
          <p:cNvPr id="8" name="Text 6"/>
          <p:cNvSpPr txBox="1"/>
          <p:nvPr/>
        </p:nvSpPr>
        <p:spPr>
          <a:xfrm>
            <a:off x="1417320" y="1920240"/>
            <a:ext cx="685800" cy="365760"/>
          </a:xfrm>
          <a:prstGeom prst="rect">
            <a:avLst/>
          </a:prstGeom>
          <a:noFill/>
          <a:ln/>
        </p:spPr>
        <p:txBody>
          <a:bodyPr wrap="square" lIns="0" tIns="0" rIns="0" bIns="0" rtlCol="0" anchor="ctr"/>
          <a:lstStyle/>
          <a:p>
            <a:pPr algn="ctr" indent="0" marL="0">
              <a:buNone/>
            </a:pPr>
            <a:r>
              <a:rPr lang="en-US" sz="1100" b="1" dirty="0">
                <a:solidFill>
                  <a:srgbClr val="FFFFFF"/>
                </a:solidFill>
              </a:rPr>
              <a:t>RY(x)</a:t>
            </a:r>
            <a:endParaRPr lang="en-US" sz="1100" dirty="0"/>
          </a:p>
        </p:txBody>
      </p:sp>
      <p:sp>
        <p:nvSpPr>
          <p:cNvPr id="9" name="gate"/>
          <p:cNvSpPr/>
          <p:nvPr/>
        </p:nvSpPr>
        <p:spPr>
          <a:xfrm>
            <a:off x="2331720" y="1920240"/>
            <a:ext cx="685800" cy="365760"/>
          </a:xfrm>
          <a:prstGeom prst="rect">
            <a:avLst/>
          </a:prstGeom>
          <a:solidFill>
            <a:srgbClr val="5B4BC4"/>
          </a:solidFill>
          <a:ln w="12700">
            <a:solidFill>
              <a:srgbClr val="5B4BC4"/>
            </a:solidFill>
            <a:prstDash val="solid"/>
          </a:ln>
        </p:spPr>
      </p:sp>
      <p:sp>
        <p:nvSpPr>
          <p:cNvPr id="10" name="Text 8"/>
          <p:cNvSpPr txBox="1"/>
          <p:nvPr/>
        </p:nvSpPr>
        <p:spPr>
          <a:xfrm>
            <a:off x="2331720" y="1920240"/>
            <a:ext cx="685800" cy="365760"/>
          </a:xfrm>
          <a:prstGeom prst="rect">
            <a:avLst/>
          </a:prstGeom>
          <a:noFill/>
          <a:ln/>
        </p:spPr>
        <p:txBody>
          <a:bodyPr wrap="square" lIns="0" tIns="0" rIns="0" bIns="0" rtlCol="0" anchor="ctr"/>
          <a:lstStyle/>
          <a:p>
            <a:pPr algn="ctr" indent="0" marL="0">
              <a:buNone/>
            </a:pPr>
            <a:r>
              <a:rPr lang="en-US" sz="1100" b="1" dirty="0">
                <a:solidFill>
                  <a:srgbClr val="FFFFFF"/>
                </a:solidFill>
              </a:rPr>
              <a:t>RY(θ)</a:t>
            </a:r>
            <a:endParaRPr lang="en-US" sz="1100" dirty="0"/>
          </a:p>
        </p:txBody>
      </p:sp>
      <p:sp>
        <p:nvSpPr>
          <p:cNvPr id="11" name="gate"/>
          <p:cNvSpPr/>
          <p:nvPr/>
        </p:nvSpPr>
        <p:spPr>
          <a:xfrm>
            <a:off x="3794760" y="1920240"/>
            <a:ext cx="685800" cy="365760"/>
          </a:xfrm>
          <a:prstGeom prst="rect">
            <a:avLst/>
          </a:prstGeom>
          <a:solidFill>
            <a:srgbClr val="5B4BC4"/>
          </a:solidFill>
          <a:ln w="12700">
            <a:solidFill>
              <a:srgbClr val="5B4BC4"/>
            </a:solidFill>
            <a:prstDash val="solid"/>
          </a:ln>
        </p:spPr>
      </p:sp>
      <p:sp>
        <p:nvSpPr>
          <p:cNvPr id="12" name="Text 10"/>
          <p:cNvSpPr txBox="1"/>
          <p:nvPr/>
        </p:nvSpPr>
        <p:spPr>
          <a:xfrm>
            <a:off x="3794760" y="1920240"/>
            <a:ext cx="685800" cy="365760"/>
          </a:xfrm>
          <a:prstGeom prst="rect">
            <a:avLst/>
          </a:prstGeom>
          <a:noFill/>
          <a:ln/>
        </p:spPr>
        <p:txBody>
          <a:bodyPr wrap="square" lIns="0" tIns="0" rIns="0" bIns="0" rtlCol="0" anchor="ctr"/>
          <a:lstStyle/>
          <a:p>
            <a:pPr algn="ctr" indent="0" marL="0">
              <a:buNone/>
            </a:pPr>
            <a:r>
              <a:rPr lang="en-US" sz="1100" b="1" dirty="0">
                <a:solidFill>
                  <a:srgbClr val="FFFFFF"/>
                </a:solidFill>
              </a:rPr>
              <a:t>RY(θ)</a:t>
            </a:r>
            <a:endParaRPr lang="en-US" sz="1100" dirty="0"/>
          </a:p>
        </p:txBody>
      </p:sp>
      <p:sp>
        <p:nvSpPr>
          <p:cNvPr id="13" name="gate"/>
          <p:cNvSpPr/>
          <p:nvPr/>
        </p:nvSpPr>
        <p:spPr>
          <a:xfrm>
            <a:off x="5120640" y="1920240"/>
            <a:ext cx="685800" cy="365760"/>
          </a:xfrm>
          <a:prstGeom prst="rect">
            <a:avLst/>
          </a:prstGeom>
          <a:solidFill>
            <a:srgbClr val="5B4BC4"/>
          </a:solidFill>
          <a:ln w="12700">
            <a:solidFill>
              <a:srgbClr val="5B4BC4"/>
            </a:solidFill>
            <a:prstDash val="solid"/>
          </a:ln>
        </p:spPr>
      </p:sp>
      <p:sp>
        <p:nvSpPr>
          <p:cNvPr id="14" name="Text 12"/>
          <p:cNvSpPr txBox="1"/>
          <p:nvPr/>
        </p:nvSpPr>
        <p:spPr>
          <a:xfrm>
            <a:off x="5120640" y="1920240"/>
            <a:ext cx="685800" cy="365760"/>
          </a:xfrm>
          <a:prstGeom prst="rect">
            <a:avLst/>
          </a:prstGeom>
          <a:noFill/>
          <a:ln/>
        </p:spPr>
        <p:txBody>
          <a:bodyPr wrap="square" lIns="0" tIns="0" rIns="0" bIns="0" rtlCol="0" anchor="ctr"/>
          <a:lstStyle/>
          <a:p>
            <a:pPr algn="ctr" indent="0" marL="0">
              <a:buNone/>
            </a:pPr>
            <a:r>
              <a:rPr lang="en-US" sz="1100" b="1" dirty="0">
                <a:solidFill>
                  <a:srgbClr val="FFFFFF"/>
                </a:solidFill>
              </a:rPr>
              <a:t>RY(θ)</a:t>
            </a:r>
            <a:endParaRPr lang="en-US" sz="1100" dirty="0"/>
          </a:p>
        </p:txBody>
      </p:sp>
      <p:sp>
        <p:nvSpPr>
          <p:cNvPr id="15" name="meter"/>
          <p:cNvSpPr/>
          <p:nvPr/>
        </p:nvSpPr>
        <p:spPr>
          <a:xfrm>
            <a:off x="5897880" y="1938528"/>
            <a:ext cx="329184" cy="329184"/>
          </a:xfrm>
          <a:prstGeom prst="rect">
            <a:avLst/>
          </a:prstGeom>
          <a:solidFill>
            <a:srgbClr val="FFFFFF"/>
          </a:solidFill>
          <a:ln w="12700">
            <a:solidFill>
              <a:srgbClr val="13213A"/>
            </a:solidFill>
            <a:prstDash val="solid"/>
          </a:ln>
        </p:spPr>
      </p:sp>
      <p:sp>
        <p:nvSpPr>
          <p:cNvPr id="16" name="Text 14"/>
          <p:cNvSpPr txBox="1"/>
          <p:nvPr/>
        </p:nvSpPr>
        <p:spPr>
          <a:xfrm>
            <a:off x="5897880" y="1938528"/>
            <a:ext cx="329184" cy="329184"/>
          </a:xfrm>
          <a:prstGeom prst="rect">
            <a:avLst/>
          </a:prstGeom>
          <a:noFill/>
          <a:ln/>
        </p:spPr>
        <p:txBody>
          <a:bodyPr wrap="square" lIns="0" tIns="0" rIns="0" bIns="0" rtlCol="0" anchor="ctr"/>
          <a:lstStyle/>
          <a:p>
            <a:pPr algn="ctr" indent="0" marL="0">
              <a:buNone/>
            </a:pPr>
            <a:r>
              <a:rPr lang="en-US" sz="1100" b="1" dirty="0">
                <a:solidFill>
                  <a:schemeClr val="tx1"/>
                </a:solidFill>
              </a:rPr>
              <a:t>M</a:t>
            </a:r>
            <a:endParaRPr lang="en-US" sz="1100" dirty="0"/>
          </a:p>
        </p:txBody>
      </p:sp>
      <p:sp>
        <p:nvSpPr>
          <p:cNvPr id="17" name="wire"/>
          <p:cNvSpPr/>
          <p:nvPr/>
        </p:nvSpPr>
        <p:spPr>
          <a:xfrm>
            <a:off x="1280160" y="2697480"/>
            <a:ext cx="4937760" cy="0"/>
          </a:xfrm>
          <a:prstGeom prst="line">
            <a:avLst/>
          </a:prstGeom>
          <a:noFill/>
          <a:ln w="12700">
            <a:solidFill>
              <a:srgbClr val="4A5568"/>
            </a:solidFill>
            <a:prstDash val="solid"/>
          </a:ln>
        </p:spPr>
      </p:sp>
      <p:sp>
        <p:nvSpPr>
          <p:cNvPr id="18" name="Text 16"/>
          <p:cNvSpPr txBox="1"/>
          <p:nvPr/>
        </p:nvSpPr>
        <p:spPr>
          <a:xfrm>
            <a:off x="822960" y="2560320"/>
            <a:ext cx="411480" cy="274320"/>
          </a:xfrm>
          <a:prstGeom prst="rect">
            <a:avLst/>
          </a:prstGeom>
          <a:noFill/>
          <a:ln/>
        </p:spPr>
        <p:txBody>
          <a:bodyPr wrap="square" lIns="0" tIns="0" rIns="0" bIns="0" rtlCol="0" anchor="t"/>
          <a:lstStyle/>
          <a:p>
            <a:pPr indent="0" marL="0">
              <a:buNone/>
            </a:pPr>
            <a:r>
              <a:rPr lang="en-US" sz="1200" dirty="0">
                <a:solidFill>
                  <a:schemeClr val="tx2"/>
                </a:solidFill>
              </a:rPr>
              <a:t>q1</a:t>
            </a:r>
            <a:endParaRPr lang="en-US" sz="1200" dirty="0"/>
          </a:p>
        </p:txBody>
      </p:sp>
      <p:sp>
        <p:nvSpPr>
          <p:cNvPr id="19" name="gate"/>
          <p:cNvSpPr/>
          <p:nvPr/>
        </p:nvSpPr>
        <p:spPr>
          <a:xfrm>
            <a:off x="1417320" y="2514600"/>
            <a:ext cx="685800" cy="365760"/>
          </a:xfrm>
          <a:prstGeom prst="rect">
            <a:avLst/>
          </a:prstGeom>
          <a:solidFill>
            <a:srgbClr val="1F8A70"/>
          </a:solidFill>
          <a:ln w="12700">
            <a:solidFill>
              <a:srgbClr val="1F8A70"/>
            </a:solidFill>
            <a:prstDash val="solid"/>
          </a:ln>
        </p:spPr>
      </p:sp>
      <p:sp>
        <p:nvSpPr>
          <p:cNvPr id="20" name="Text 18"/>
          <p:cNvSpPr txBox="1"/>
          <p:nvPr/>
        </p:nvSpPr>
        <p:spPr>
          <a:xfrm>
            <a:off x="1417320" y="2514600"/>
            <a:ext cx="685800" cy="365760"/>
          </a:xfrm>
          <a:prstGeom prst="rect">
            <a:avLst/>
          </a:prstGeom>
          <a:noFill/>
          <a:ln/>
        </p:spPr>
        <p:txBody>
          <a:bodyPr wrap="square" lIns="0" tIns="0" rIns="0" bIns="0" rtlCol="0" anchor="ctr"/>
          <a:lstStyle/>
          <a:p>
            <a:pPr algn="ctr" indent="0" marL="0">
              <a:buNone/>
            </a:pPr>
            <a:r>
              <a:rPr lang="en-US" sz="1100" b="1" dirty="0">
                <a:solidFill>
                  <a:srgbClr val="FFFFFF"/>
                </a:solidFill>
              </a:rPr>
              <a:t>RY(x)</a:t>
            </a:r>
            <a:endParaRPr lang="en-US" sz="1100" dirty="0"/>
          </a:p>
        </p:txBody>
      </p:sp>
      <p:sp>
        <p:nvSpPr>
          <p:cNvPr id="21" name="gate"/>
          <p:cNvSpPr/>
          <p:nvPr/>
        </p:nvSpPr>
        <p:spPr>
          <a:xfrm>
            <a:off x="2331720" y="2514600"/>
            <a:ext cx="685800" cy="365760"/>
          </a:xfrm>
          <a:prstGeom prst="rect">
            <a:avLst/>
          </a:prstGeom>
          <a:solidFill>
            <a:srgbClr val="5B4BC4"/>
          </a:solidFill>
          <a:ln w="12700">
            <a:solidFill>
              <a:srgbClr val="5B4BC4"/>
            </a:solidFill>
            <a:prstDash val="solid"/>
          </a:ln>
        </p:spPr>
      </p:sp>
      <p:sp>
        <p:nvSpPr>
          <p:cNvPr id="22" name="Text 20"/>
          <p:cNvSpPr txBox="1"/>
          <p:nvPr/>
        </p:nvSpPr>
        <p:spPr>
          <a:xfrm>
            <a:off x="2331720" y="2514600"/>
            <a:ext cx="685800" cy="365760"/>
          </a:xfrm>
          <a:prstGeom prst="rect">
            <a:avLst/>
          </a:prstGeom>
          <a:noFill/>
          <a:ln/>
        </p:spPr>
        <p:txBody>
          <a:bodyPr wrap="square" lIns="0" tIns="0" rIns="0" bIns="0" rtlCol="0" anchor="ctr"/>
          <a:lstStyle/>
          <a:p>
            <a:pPr algn="ctr" indent="0" marL="0">
              <a:buNone/>
            </a:pPr>
            <a:r>
              <a:rPr lang="en-US" sz="1100" b="1" dirty="0">
                <a:solidFill>
                  <a:srgbClr val="FFFFFF"/>
                </a:solidFill>
              </a:rPr>
              <a:t>RY(θ)</a:t>
            </a:r>
            <a:endParaRPr lang="en-US" sz="1100" dirty="0"/>
          </a:p>
        </p:txBody>
      </p:sp>
      <p:sp>
        <p:nvSpPr>
          <p:cNvPr id="23" name="gate"/>
          <p:cNvSpPr/>
          <p:nvPr/>
        </p:nvSpPr>
        <p:spPr>
          <a:xfrm>
            <a:off x="3794760" y="2514600"/>
            <a:ext cx="685800" cy="365760"/>
          </a:xfrm>
          <a:prstGeom prst="rect">
            <a:avLst/>
          </a:prstGeom>
          <a:solidFill>
            <a:srgbClr val="5B4BC4"/>
          </a:solidFill>
          <a:ln w="12700">
            <a:solidFill>
              <a:srgbClr val="5B4BC4"/>
            </a:solidFill>
            <a:prstDash val="solid"/>
          </a:ln>
        </p:spPr>
      </p:sp>
      <p:sp>
        <p:nvSpPr>
          <p:cNvPr id="24" name="Text 22"/>
          <p:cNvSpPr txBox="1"/>
          <p:nvPr/>
        </p:nvSpPr>
        <p:spPr>
          <a:xfrm>
            <a:off x="3794760" y="2514600"/>
            <a:ext cx="685800" cy="365760"/>
          </a:xfrm>
          <a:prstGeom prst="rect">
            <a:avLst/>
          </a:prstGeom>
          <a:noFill/>
          <a:ln/>
        </p:spPr>
        <p:txBody>
          <a:bodyPr wrap="square" lIns="0" tIns="0" rIns="0" bIns="0" rtlCol="0" anchor="ctr"/>
          <a:lstStyle/>
          <a:p>
            <a:pPr algn="ctr" indent="0" marL="0">
              <a:buNone/>
            </a:pPr>
            <a:r>
              <a:rPr lang="en-US" sz="1100" b="1" dirty="0">
                <a:solidFill>
                  <a:srgbClr val="FFFFFF"/>
                </a:solidFill>
              </a:rPr>
              <a:t>RY(θ)</a:t>
            </a:r>
            <a:endParaRPr lang="en-US" sz="1100" dirty="0"/>
          </a:p>
        </p:txBody>
      </p:sp>
      <p:sp>
        <p:nvSpPr>
          <p:cNvPr id="25" name="gate"/>
          <p:cNvSpPr/>
          <p:nvPr/>
        </p:nvSpPr>
        <p:spPr>
          <a:xfrm>
            <a:off x="5120640" y="2514600"/>
            <a:ext cx="685800" cy="365760"/>
          </a:xfrm>
          <a:prstGeom prst="rect">
            <a:avLst/>
          </a:prstGeom>
          <a:solidFill>
            <a:srgbClr val="5B4BC4"/>
          </a:solidFill>
          <a:ln w="12700">
            <a:solidFill>
              <a:srgbClr val="5B4BC4"/>
            </a:solidFill>
            <a:prstDash val="solid"/>
          </a:ln>
        </p:spPr>
      </p:sp>
      <p:sp>
        <p:nvSpPr>
          <p:cNvPr id="26" name="Text 24"/>
          <p:cNvSpPr txBox="1"/>
          <p:nvPr/>
        </p:nvSpPr>
        <p:spPr>
          <a:xfrm>
            <a:off x="5120640" y="2514600"/>
            <a:ext cx="685800" cy="365760"/>
          </a:xfrm>
          <a:prstGeom prst="rect">
            <a:avLst/>
          </a:prstGeom>
          <a:noFill/>
          <a:ln/>
        </p:spPr>
        <p:txBody>
          <a:bodyPr wrap="square" lIns="0" tIns="0" rIns="0" bIns="0" rtlCol="0" anchor="ctr"/>
          <a:lstStyle/>
          <a:p>
            <a:pPr algn="ctr" indent="0" marL="0">
              <a:buNone/>
            </a:pPr>
            <a:r>
              <a:rPr lang="en-US" sz="1100" b="1" dirty="0">
                <a:solidFill>
                  <a:srgbClr val="FFFFFF"/>
                </a:solidFill>
              </a:rPr>
              <a:t>RY(θ)</a:t>
            </a:r>
            <a:endParaRPr lang="en-US" sz="1100" dirty="0"/>
          </a:p>
        </p:txBody>
      </p:sp>
      <p:sp>
        <p:nvSpPr>
          <p:cNvPr id="27" name="meter"/>
          <p:cNvSpPr/>
          <p:nvPr/>
        </p:nvSpPr>
        <p:spPr>
          <a:xfrm>
            <a:off x="5897880" y="2532888"/>
            <a:ext cx="329184" cy="329184"/>
          </a:xfrm>
          <a:prstGeom prst="rect">
            <a:avLst/>
          </a:prstGeom>
          <a:solidFill>
            <a:srgbClr val="FFFFFF"/>
          </a:solidFill>
          <a:ln w="12700">
            <a:solidFill>
              <a:srgbClr val="13213A"/>
            </a:solidFill>
            <a:prstDash val="solid"/>
          </a:ln>
        </p:spPr>
      </p:sp>
      <p:sp>
        <p:nvSpPr>
          <p:cNvPr id="28" name="Text 26"/>
          <p:cNvSpPr txBox="1"/>
          <p:nvPr/>
        </p:nvSpPr>
        <p:spPr>
          <a:xfrm>
            <a:off x="5897880" y="2532888"/>
            <a:ext cx="329184" cy="329184"/>
          </a:xfrm>
          <a:prstGeom prst="rect">
            <a:avLst/>
          </a:prstGeom>
          <a:noFill/>
          <a:ln/>
        </p:spPr>
        <p:txBody>
          <a:bodyPr wrap="square" lIns="0" tIns="0" rIns="0" bIns="0" rtlCol="0" anchor="ctr"/>
          <a:lstStyle/>
          <a:p>
            <a:pPr algn="ctr" indent="0" marL="0">
              <a:buNone/>
            </a:pPr>
            <a:r>
              <a:rPr lang="en-US" sz="1100" b="1" dirty="0">
                <a:solidFill>
                  <a:schemeClr val="tx1"/>
                </a:solidFill>
              </a:rPr>
              <a:t>M</a:t>
            </a:r>
            <a:endParaRPr lang="en-US" sz="1100" dirty="0"/>
          </a:p>
        </p:txBody>
      </p:sp>
      <p:sp>
        <p:nvSpPr>
          <p:cNvPr id="29" name="wire"/>
          <p:cNvSpPr/>
          <p:nvPr/>
        </p:nvSpPr>
        <p:spPr>
          <a:xfrm>
            <a:off x="1280160" y="3291840"/>
            <a:ext cx="4937760" cy="0"/>
          </a:xfrm>
          <a:prstGeom prst="line">
            <a:avLst/>
          </a:prstGeom>
          <a:noFill/>
          <a:ln w="12700">
            <a:solidFill>
              <a:srgbClr val="4A5568"/>
            </a:solidFill>
            <a:prstDash val="solid"/>
          </a:ln>
        </p:spPr>
      </p:sp>
      <p:sp>
        <p:nvSpPr>
          <p:cNvPr id="30" name="Text 28"/>
          <p:cNvSpPr txBox="1"/>
          <p:nvPr/>
        </p:nvSpPr>
        <p:spPr>
          <a:xfrm>
            <a:off x="822960" y="3154680"/>
            <a:ext cx="411480" cy="274320"/>
          </a:xfrm>
          <a:prstGeom prst="rect">
            <a:avLst/>
          </a:prstGeom>
          <a:noFill/>
          <a:ln/>
        </p:spPr>
        <p:txBody>
          <a:bodyPr wrap="square" lIns="0" tIns="0" rIns="0" bIns="0" rtlCol="0" anchor="t"/>
          <a:lstStyle/>
          <a:p>
            <a:pPr indent="0" marL="0">
              <a:buNone/>
            </a:pPr>
            <a:r>
              <a:rPr lang="en-US" sz="1200" dirty="0">
                <a:solidFill>
                  <a:schemeClr val="tx2"/>
                </a:solidFill>
              </a:rPr>
              <a:t>q2</a:t>
            </a:r>
            <a:endParaRPr lang="en-US" sz="1200" dirty="0"/>
          </a:p>
        </p:txBody>
      </p:sp>
      <p:sp>
        <p:nvSpPr>
          <p:cNvPr id="31" name="gate"/>
          <p:cNvSpPr/>
          <p:nvPr/>
        </p:nvSpPr>
        <p:spPr>
          <a:xfrm>
            <a:off x="1417320" y="3108960"/>
            <a:ext cx="685800" cy="365760"/>
          </a:xfrm>
          <a:prstGeom prst="rect">
            <a:avLst/>
          </a:prstGeom>
          <a:solidFill>
            <a:srgbClr val="1F8A70"/>
          </a:solidFill>
          <a:ln w="12700">
            <a:solidFill>
              <a:srgbClr val="1F8A70"/>
            </a:solidFill>
            <a:prstDash val="solid"/>
          </a:ln>
        </p:spPr>
      </p:sp>
      <p:sp>
        <p:nvSpPr>
          <p:cNvPr id="32" name="Text 30"/>
          <p:cNvSpPr txBox="1"/>
          <p:nvPr/>
        </p:nvSpPr>
        <p:spPr>
          <a:xfrm>
            <a:off x="1417320" y="3108960"/>
            <a:ext cx="685800" cy="365760"/>
          </a:xfrm>
          <a:prstGeom prst="rect">
            <a:avLst/>
          </a:prstGeom>
          <a:noFill/>
          <a:ln/>
        </p:spPr>
        <p:txBody>
          <a:bodyPr wrap="square" lIns="0" tIns="0" rIns="0" bIns="0" rtlCol="0" anchor="ctr"/>
          <a:lstStyle/>
          <a:p>
            <a:pPr algn="ctr" indent="0" marL="0">
              <a:buNone/>
            </a:pPr>
            <a:r>
              <a:rPr lang="en-US" sz="1100" b="1" dirty="0">
                <a:solidFill>
                  <a:srgbClr val="FFFFFF"/>
                </a:solidFill>
              </a:rPr>
              <a:t>RY(x)</a:t>
            </a:r>
            <a:endParaRPr lang="en-US" sz="1100" dirty="0"/>
          </a:p>
        </p:txBody>
      </p:sp>
      <p:sp>
        <p:nvSpPr>
          <p:cNvPr id="33" name="gate"/>
          <p:cNvSpPr/>
          <p:nvPr/>
        </p:nvSpPr>
        <p:spPr>
          <a:xfrm>
            <a:off x="2331720" y="3108960"/>
            <a:ext cx="685800" cy="365760"/>
          </a:xfrm>
          <a:prstGeom prst="rect">
            <a:avLst/>
          </a:prstGeom>
          <a:solidFill>
            <a:srgbClr val="5B4BC4"/>
          </a:solidFill>
          <a:ln w="12700">
            <a:solidFill>
              <a:srgbClr val="5B4BC4"/>
            </a:solidFill>
            <a:prstDash val="solid"/>
          </a:ln>
        </p:spPr>
      </p:sp>
      <p:sp>
        <p:nvSpPr>
          <p:cNvPr id="34" name="Text 32"/>
          <p:cNvSpPr txBox="1"/>
          <p:nvPr/>
        </p:nvSpPr>
        <p:spPr>
          <a:xfrm>
            <a:off x="2331720" y="3108960"/>
            <a:ext cx="685800" cy="365760"/>
          </a:xfrm>
          <a:prstGeom prst="rect">
            <a:avLst/>
          </a:prstGeom>
          <a:noFill/>
          <a:ln/>
        </p:spPr>
        <p:txBody>
          <a:bodyPr wrap="square" lIns="0" tIns="0" rIns="0" bIns="0" rtlCol="0" anchor="ctr"/>
          <a:lstStyle/>
          <a:p>
            <a:pPr algn="ctr" indent="0" marL="0">
              <a:buNone/>
            </a:pPr>
            <a:r>
              <a:rPr lang="en-US" sz="1100" b="1" dirty="0">
                <a:solidFill>
                  <a:srgbClr val="FFFFFF"/>
                </a:solidFill>
              </a:rPr>
              <a:t>RY(θ)</a:t>
            </a:r>
            <a:endParaRPr lang="en-US" sz="1100" dirty="0"/>
          </a:p>
        </p:txBody>
      </p:sp>
      <p:sp>
        <p:nvSpPr>
          <p:cNvPr id="35" name="gate"/>
          <p:cNvSpPr/>
          <p:nvPr/>
        </p:nvSpPr>
        <p:spPr>
          <a:xfrm>
            <a:off x="3794760" y="3108960"/>
            <a:ext cx="685800" cy="365760"/>
          </a:xfrm>
          <a:prstGeom prst="rect">
            <a:avLst/>
          </a:prstGeom>
          <a:solidFill>
            <a:srgbClr val="5B4BC4"/>
          </a:solidFill>
          <a:ln w="12700">
            <a:solidFill>
              <a:srgbClr val="5B4BC4"/>
            </a:solidFill>
            <a:prstDash val="solid"/>
          </a:ln>
        </p:spPr>
      </p:sp>
      <p:sp>
        <p:nvSpPr>
          <p:cNvPr id="36" name="Text 34"/>
          <p:cNvSpPr txBox="1"/>
          <p:nvPr/>
        </p:nvSpPr>
        <p:spPr>
          <a:xfrm>
            <a:off x="3794760" y="3108960"/>
            <a:ext cx="685800" cy="365760"/>
          </a:xfrm>
          <a:prstGeom prst="rect">
            <a:avLst/>
          </a:prstGeom>
          <a:noFill/>
          <a:ln/>
        </p:spPr>
        <p:txBody>
          <a:bodyPr wrap="square" lIns="0" tIns="0" rIns="0" bIns="0" rtlCol="0" anchor="ctr"/>
          <a:lstStyle/>
          <a:p>
            <a:pPr algn="ctr" indent="0" marL="0">
              <a:buNone/>
            </a:pPr>
            <a:r>
              <a:rPr lang="en-US" sz="1100" b="1" dirty="0">
                <a:solidFill>
                  <a:srgbClr val="FFFFFF"/>
                </a:solidFill>
              </a:rPr>
              <a:t>RY(θ)</a:t>
            </a:r>
            <a:endParaRPr lang="en-US" sz="1100" dirty="0"/>
          </a:p>
        </p:txBody>
      </p:sp>
      <p:sp>
        <p:nvSpPr>
          <p:cNvPr id="37" name="gate"/>
          <p:cNvSpPr/>
          <p:nvPr/>
        </p:nvSpPr>
        <p:spPr>
          <a:xfrm>
            <a:off x="5120640" y="3108960"/>
            <a:ext cx="685800" cy="365760"/>
          </a:xfrm>
          <a:prstGeom prst="rect">
            <a:avLst/>
          </a:prstGeom>
          <a:solidFill>
            <a:srgbClr val="5B4BC4"/>
          </a:solidFill>
          <a:ln w="12700">
            <a:solidFill>
              <a:srgbClr val="5B4BC4"/>
            </a:solidFill>
            <a:prstDash val="solid"/>
          </a:ln>
        </p:spPr>
      </p:sp>
      <p:sp>
        <p:nvSpPr>
          <p:cNvPr id="38" name="Text 36"/>
          <p:cNvSpPr txBox="1"/>
          <p:nvPr/>
        </p:nvSpPr>
        <p:spPr>
          <a:xfrm>
            <a:off x="5120640" y="3108960"/>
            <a:ext cx="685800" cy="365760"/>
          </a:xfrm>
          <a:prstGeom prst="rect">
            <a:avLst/>
          </a:prstGeom>
          <a:noFill/>
          <a:ln/>
        </p:spPr>
        <p:txBody>
          <a:bodyPr wrap="square" lIns="0" tIns="0" rIns="0" bIns="0" rtlCol="0" anchor="ctr"/>
          <a:lstStyle/>
          <a:p>
            <a:pPr algn="ctr" indent="0" marL="0">
              <a:buNone/>
            </a:pPr>
            <a:r>
              <a:rPr lang="en-US" sz="1100" b="1" dirty="0">
                <a:solidFill>
                  <a:srgbClr val="FFFFFF"/>
                </a:solidFill>
              </a:rPr>
              <a:t>RY(θ)</a:t>
            </a:r>
            <a:endParaRPr lang="en-US" sz="1100" dirty="0"/>
          </a:p>
        </p:txBody>
      </p:sp>
      <p:sp>
        <p:nvSpPr>
          <p:cNvPr id="39" name="meter"/>
          <p:cNvSpPr/>
          <p:nvPr/>
        </p:nvSpPr>
        <p:spPr>
          <a:xfrm>
            <a:off x="5897880" y="3127248"/>
            <a:ext cx="329184" cy="329184"/>
          </a:xfrm>
          <a:prstGeom prst="rect">
            <a:avLst/>
          </a:prstGeom>
          <a:solidFill>
            <a:srgbClr val="FFFFFF"/>
          </a:solidFill>
          <a:ln w="12700">
            <a:solidFill>
              <a:srgbClr val="13213A"/>
            </a:solidFill>
            <a:prstDash val="solid"/>
          </a:ln>
        </p:spPr>
      </p:sp>
      <p:sp>
        <p:nvSpPr>
          <p:cNvPr id="40" name="Text 38"/>
          <p:cNvSpPr txBox="1"/>
          <p:nvPr/>
        </p:nvSpPr>
        <p:spPr>
          <a:xfrm>
            <a:off x="5897880" y="3127248"/>
            <a:ext cx="329184" cy="329184"/>
          </a:xfrm>
          <a:prstGeom prst="rect">
            <a:avLst/>
          </a:prstGeom>
          <a:noFill/>
          <a:ln/>
        </p:spPr>
        <p:txBody>
          <a:bodyPr wrap="square" lIns="0" tIns="0" rIns="0" bIns="0" rtlCol="0" anchor="ctr"/>
          <a:lstStyle/>
          <a:p>
            <a:pPr algn="ctr" indent="0" marL="0">
              <a:buNone/>
            </a:pPr>
            <a:r>
              <a:rPr lang="en-US" sz="1100" b="1" dirty="0">
                <a:solidFill>
                  <a:schemeClr val="tx1"/>
                </a:solidFill>
              </a:rPr>
              <a:t>M</a:t>
            </a:r>
            <a:endParaRPr lang="en-US" sz="1100" dirty="0"/>
          </a:p>
        </p:txBody>
      </p:sp>
      <p:sp>
        <p:nvSpPr>
          <p:cNvPr id="41" name="wire"/>
          <p:cNvSpPr/>
          <p:nvPr/>
        </p:nvSpPr>
        <p:spPr>
          <a:xfrm>
            <a:off x="1280160" y="3886200"/>
            <a:ext cx="4937760" cy="0"/>
          </a:xfrm>
          <a:prstGeom prst="line">
            <a:avLst/>
          </a:prstGeom>
          <a:noFill/>
          <a:ln w="12700">
            <a:solidFill>
              <a:srgbClr val="4A5568"/>
            </a:solidFill>
            <a:prstDash val="solid"/>
          </a:ln>
        </p:spPr>
      </p:sp>
      <p:sp>
        <p:nvSpPr>
          <p:cNvPr id="42" name="Text 40"/>
          <p:cNvSpPr txBox="1"/>
          <p:nvPr/>
        </p:nvSpPr>
        <p:spPr>
          <a:xfrm>
            <a:off x="822960" y="3749040"/>
            <a:ext cx="411480" cy="274320"/>
          </a:xfrm>
          <a:prstGeom prst="rect">
            <a:avLst/>
          </a:prstGeom>
          <a:noFill/>
          <a:ln/>
        </p:spPr>
        <p:txBody>
          <a:bodyPr wrap="square" lIns="0" tIns="0" rIns="0" bIns="0" rtlCol="0" anchor="t"/>
          <a:lstStyle/>
          <a:p>
            <a:pPr indent="0" marL="0">
              <a:buNone/>
            </a:pPr>
            <a:r>
              <a:rPr lang="en-US" sz="1200" dirty="0">
                <a:solidFill>
                  <a:schemeClr val="tx2"/>
                </a:solidFill>
              </a:rPr>
              <a:t>q3</a:t>
            </a:r>
            <a:endParaRPr lang="en-US" sz="1200" dirty="0"/>
          </a:p>
        </p:txBody>
      </p:sp>
      <p:sp>
        <p:nvSpPr>
          <p:cNvPr id="43" name="gate"/>
          <p:cNvSpPr/>
          <p:nvPr/>
        </p:nvSpPr>
        <p:spPr>
          <a:xfrm>
            <a:off x="1417320" y="3703320"/>
            <a:ext cx="685800" cy="365760"/>
          </a:xfrm>
          <a:prstGeom prst="rect">
            <a:avLst/>
          </a:prstGeom>
          <a:solidFill>
            <a:srgbClr val="1F8A70"/>
          </a:solidFill>
          <a:ln w="12700">
            <a:solidFill>
              <a:srgbClr val="1F8A70"/>
            </a:solidFill>
            <a:prstDash val="solid"/>
          </a:ln>
        </p:spPr>
      </p:sp>
      <p:sp>
        <p:nvSpPr>
          <p:cNvPr id="44" name="Text 42"/>
          <p:cNvSpPr txBox="1"/>
          <p:nvPr/>
        </p:nvSpPr>
        <p:spPr>
          <a:xfrm>
            <a:off x="1417320" y="3703320"/>
            <a:ext cx="685800" cy="365760"/>
          </a:xfrm>
          <a:prstGeom prst="rect">
            <a:avLst/>
          </a:prstGeom>
          <a:noFill/>
          <a:ln/>
        </p:spPr>
        <p:txBody>
          <a:bodyPr wrap="square" lIns="0" tIns="0" rIns="0" bIns="0" rtlCol="0" anchor="ctr"/>
          <a:lstStyle/>
          <a:p>
            <a:pPr algn="ctr" indent="0" marL="0">
              <a:buNone/>
            </a:pPr>
            <a:r>
              <a:rPr lang="en-US" sz="1100" b="1" dirty="0">
                <a:solidFill>
                  <a:srgbClr val="FFFFFF"/>
                </a:solidFill>
              </a:rPr>
              <a:t>RY(x)</a:t>
            </a:r>
            <a:endParaRPr lang="en-US" sz="1100" dirty="0"/>
          </a:p>
        </p:txBody>
      </p:sp>
      <p:sp>
        <p:nvSpPr>
          <p:cNvPr id="45" name="gate"/>
          <p:cNvSpPr/>
          <p:nvPr/>
        </p:nvSpPr>
        <p:spPr>
          <a:xfrm>
            <a:off x="2331720" y="3703320"/>
            <a:ext cx="685800" cy="365760"/>
          </a:xfrm>
          <a:prstGeom prst="rect">
            <a:avLst/>
          </a:prstGeom>
          <a:solidFill>
            <a:srgbClr val="5B4BC4"/>
          </a:solidFill>
          <a:ln w="12700">
            <a:solidFill>
              <a:srgbClr val="5B4BC4"/>
            </a:solidFill>
            <a:prstDash val="solid"/>
          </a:ln>
        </p:spPr>
      </p:sp>
      <p:sp>
        <p:nvSpPr>
          <p:cNvPr id="46" name="Text 44"/>
          <p:cNvSpPr txBox="1"/>
          <p:nvPr/>
        </p:nvSpPr>
        <p:spPr>
          <a:xfrm>
            <a:off x="2331720" y="3703320"/>
            <a:ext cx="685800" cy="365760"/>
          </a:xfrm>
          <a:prstGeom prst="rect">
            <a:avLst/>
          </a:prstGeom>
          <a:noFill/>
          <a:ln/>
        </p:spPr>
        <p:txBody>
          <a:bodyPr wrap="square" lIns="0" tIns="0" rIns="0" bIns="0" rtlCol="0" anchor="ctr"/>
          <a:lstStyle/>
          <a:p>
            <a:pPr algn="ctr" indent="0" marL="0">
              <a:buNone/>
            </a:pPr>
            <a:r>
              <a:rPr lang="en-US" sz="1100" b="1" dirty="0">
                <a:solidFill>
                  <a:srgbClr val="FFFFFF"/>
                </a:solidFill>
              </a:rPr>
              <a:t>RY(θ)</a:t>
            </a:r>
            <a:endParaRPr lang="en-US" sz="1100" dirty="0"/>
          </a:p>
        </p:txBody>
      </p:sp>
      <p:sp>
        <p:nvSpPr>
          <p:cNvPr id="47" name="gate"/>
          <p:cNvSpPr/>
          <p:nvPr/>
        </p:nvSpPr>
        <p:spPr>
          <a:xfrm>
            <a:off x="3794760" y="3703320"/>
            <a:ext cx="685800" cy="365760"/>
          </a:xfrm>
          <a:prstGeom prst="rect">
            <a:avLst/>
          </a:prstGeom>
          <a:solidFill>
            <a:srgbClr val="5B4BC4"/>
          </a:solidFill>
          <a:ln w="12700">
            <a:solidFill>
              <a:srgbClr val="5B4BC4"/>
            </a:solidFill>
            <a:prstDash val="solid"/>
          </a:ln>
        </p:spPr>
      </p:sp>
      <p:sp>
        <p:nvSpPr>
          <p:cNvPr id="48" name="Text 46"/>
          <p:cNvSpPr txBox="1"/>
          <p:nvPr/>
        </p:nvSpPr>
        <p:spPr>
          <a:xfrm>
            <a:off x="3794760" y="3703320"/>
            <a:ext cx="685800" cy="365760"/>
          </a:xfrm>
          <a:prstGeom prst="rect">
            <a:avLst/>
          </a:prstGeom>
          <a:noFill/>
          <a:ln/>
        </p:spPr>
        <p:txBody>
          <a:bodyPr wrap="square" lIns="0" tIns="0" rIns="0" bIns="0" rtlCol="0" anchor="ctr"/>
          <a:lstStyle/>
          <a:p>
            <a:pPr algn="ctr" indent="0" marL="0">
              <a:buNone/>
            </a:pPr>
            <a:r>
              <a:rPr lang="en-US" sz="1100" b="1" dirty="0">
                <a:solidFill>
                  <a:srgbClr val="FFFFFF"/>
                </a:solidFill>
              </a:rPr>
              <a:t>RY(θ)</a:t>
            </a:r>
            <a:endParaRPr lang="en-US" sz="1100" dirty="0"/>
          </a:p>
        </p:txBody>
      </p:sp>
      <p:sp>
        <p:nvSpPr>
          <p:cNvPr id="49" name="gate"/>
          <p:cNvSpPr/>
          <p:nvPr/>
        </p:nvSpPr>
        <p:spPr>
          <a:xfrm>
            <a:off x="5120640" y="3703320"/>
            <a:ext cx="685800" cy="365760"/>
          </a:xfrm>
          <a:prstGeom prst="rect">
            <a:avLst/>
          </a:prstGeom>
          <a:solidFill>
            <a:srgbClr val="5B4BC4"/>
          </a:solidFill>
          <a:ln w="12700">
            <a:solidFill>
              <a:srgbClr val="5B4BC4"/>
            </a:solidFill>
            <a:prstDash val="solid"/>
          </a:ln>
        </p:spPr>
      </p:sp>
      <p:sp>
        <p:nvSpPr>
          <p:cNvPr id="50" name="Text 48"/>
          <p:cNvSpPr txBox="1"/>
          <p:nvPr/>
        </p:nvSpPr>
        <p:spPr>
          <a:xfrm>
            <a:off x="5120640" y="3703320"/>
            <a:ext cx="685800" cy="365760"/>
          </a:xfrm>
          <a:prstGeom prst="rect">
            <a:avLst/>
          </a:prstGeom>
          <a:noFill/>
          <a:ln/>
        </p:spPr>
        <p:txBody>
          <a:bodyPr wrap="square" lIns="0" tIns="0" rIns="0" bIns="0" rtlCol="0" anchor="ctr"/>
          <a:lstStyle/>
          <a:p>
            <a:pPr algn="ctr" indent="0" marL="0">
              <a:buNone/>
            </a:pPr>
            <a:r>
              <a:rPr lang="en-US" sz="1100" b="1" dirty="0">
                <a:solidFill>
                  <a:srgbClr val="FFFFFF"/>
                </a:solidFill>
              </a:rPr>
              <a:t>RY(θ)</a:t>
            </a:r>
            <a:endParaRPr lang="en-US" sz="1100" dirty="0"/>
          </a:p>
        </p:txBody>
      </p:sp>
      <p:sp>
        <p:nvSpPr>
          <p:cNvPr id="51" name="meter"/>
          <p:cNvSpPr/>
          <p:nvPr/>
        </p:nvSpPr>
        <p:spPr>
          <a:xfrm>
            <a:off x="5897880" y="3721608"/>
            <a:ext cx="329184" cy="329184"/>
          </a:xfrm>
          <a:prstGeom prst="rect">
            <a:avLst/>
          </a:prstGeom>
          <a:solidFill>
            <a:srgbClr val="FFFFFF"/>
          </a:solidFill>
          <a:ln w="12700">
            <a:solidFill>
              <a:srgbClr val="13213A"/>
            </a:solidFill>
            <a:prstDash val="solid"/>
          </a:ln>
        </p:spPr>
      </p:sp>
      <p:sp>
        <p:nvSpPr>
          <p:cNvPr id="52" name="Text 50"/>
          <p:cNvSpPr txBox="1"/>
          <p:nvPr/>
        </p:nvSpPr>
        <p:spPr>
          <a:xfrm>
            <a:off x="5897880" y="3721608"/>
            <a:ext cx="329184" cy="329184"/>
          </a:xfrm>
          <a:prstGeom prst="rect">
            <a:avLst/>
          </a:prstGeom>
          <a:noFill/>
          <a:ln/>
        </p:spPr>
        <p:txBody>
          <a:bodyPr wrap="square" lIns="0" tIns="0" rIns="0" bIns="0" rtlCol="0" anchor="ctr"/>
          <a:lstStyle/>
          <a:p>
            <a:pPr algn="ctr" indent="0" marL="0">
              <a:buNone/>
            </a:pPr>
            <a:r>
              <a:rPr lang="en-US" sz="1100" b="1" dirty="0">
                <a:solidFill>
                  <a:schemeClr val="tx1"/>
                </a:solidFill>
              </a:rPr>
              <a:t>M</a:t>
            </a:r>
            <a:endParaRPr lang="en-US" sz="1100" dirty="0"/>
          </a:p>
        </p:txBody>
      </p:sp>
      <p:sp>
        <p:nvSpPr>
          <p:cNvPr id="53" name="cx"/>
          <p:cNvSpPr/>
          <p:nvPr/>
        </p:nvSpPr>
        <p:spPr>
          <a:xfrm>
            <a:off x="3154680" y="2103120"/>
            <a:ext cx="0" cy="594360"/>
          </a:xfrm>
          <a:prstGeom prst="line">
            <a:avLst/>
          </a:prstGeom>
          <a:noFill/>
          <a:ln w="15875">
            <a:solidFill>
              <a:srgbClr val="13213A"/>
            </a:solidFill>
            <a:prstDash val="solid"/>
          </a:ln>
        </p:spPr>
      </p:sp>
      <p:sp>
        <p:nvSpPr>
          <p:cNvPr id="54" name="cx-dot"/>
          <p:cNvSpPr/>
          <p:nvPr/>
        </p:nvSpPr>
        <p:spPr>
          <a:xfrm>
            <a:off x="3099816" y="2048256"/>
            <a:ext cx="109728" cy="109728"/>
          </a:xfrm>
          <a:prstGeom prst="ellipse">
            <a:avLst/>
          </a:prstGeom>
          <a:solidFill>
            <a:srgbClr val="13213A"/>
          </a:solidFill>
          <a:ln w="12700">
            <a:solidFill>
              <a:srgbClr val="13213A"/>
            </a:solidFill>
            <a:prstDash val="solid"/>
          </a:ln>
        </p:spPr>
      </p:sp>
      <p:sp>
        <p:nvSpPr>
          <p:cNvPr id="55" name="cx-target"/>
          <p:cNvSpPr/>
          <p:nvPr/>
        </p:nvSpPr>
        <p:spPr>
          <a:xfrm>
            <a:off x="3063240" y="2606040"/>
            <a:ext cx="182880" cy="182880"/>
          </a:xfrm>
          <a:prstGeom prst="ellipse">
            <a:avLst/>
          </a:prstGeom>
          <a:solidFill>
            <a:srgbClr val="FFFFFF"/>
          </a:solidFill>
          <a:ln w="15875">
            <a:solidFill>
              <a:srgbClr val="13213A"/>
            </a:solidFill>
            <a:prstDash val="solid"/>
          </a:ln>
        </p:spPr>
      </p:sp>
      <p:sp>
        <p:nvSpPr>
          <p:cNvPr id="56" name="cx"/>
          <p:cNvSpPr/>
          <p:nvPr/>
        </p:nvSpPr>
        <p:spPr>
          <a:xfrm>
            <a:off x="3383280" y="2697480"/>
            <a:ext cx="0" cy="594360"/>
          </a:xfrm>
          <a:prstGeom prst="line">
            <a:avLst/>
          </a:prstGeom>
          <a:noFill/>
          <a:ln w="15875">
            <a:solidFill>
              <a:srgbClr val="13213A"/>
            </a:solidFill>
            <a:prstDash val="solid"/>
          </a:ln>
        </p:spPr>
      </p:sp>
      <p:sp>
        <p:nvSpPr>
          <p:cNvPr id="57" name="cx-dot"/>
          <p:cNvSpPr/>
          <p:nvPr/>
        </p:nvSpPr>
        <p:spPr>
          <a:xfrm>
            <a:off x="3328416" y="2642616"/>
            <a:ext cx="109728" cy="109728"/>
          </a:xfrm>
          <a:prstGeom prst="ellipse">
            <a:avLst/>
          </a:prstGeom>
          <a:solidFill>
            <a:srgbClr val="13213A"/>
          </a:solidFill>
          <a:ln w="12700">
            <a:solidFill>
              <a:srgbClr val="13213A"/>
            </a:solidFill>
            <a:prstDash val="solid"/>
          </a:ln>
        </p:spPr>
      </p:sp>
      <p:sp>
        <p:nvSpPr>
          <p:cNvPr id="58" name="cx-target"/>
          <p:cNvSpPr/>
          <p:nvPr/>
        </p:nvSpPr>
        <p:spPr>
          <a:xfrm>
            <a:off x="3291840" y="3200400"/>
            <a:ext cx="182880" cy="182880"/>
          </a:xfrm>
          <a:prstGeom prst="ellipse">
            <a:avLst/>
          </a:prstGeom>
          <a:solidFill>
            <a:srgbClr val="FFFFFF"/>
          </a:solidFill>
          <a:ln w="15875">
            <a:solidFill>
              <a:srgbClr val="13213A"/>
            </a:solidFill>
            <a:prstDash val="solid"/>
          </a:ln>
        </p:spPr>
      </p:sp>
      <p:sp>
        <p:nvSpPr>
          <p:cNvPr id="59" name="cx"/>
          <p:cNvSpPr/>
          <p:nvPr/>
        </p:nvSpPr>
        <p:spPr>
          <a:xfrm>
            <a:off x="3611880" y="3291840"/>
            <a:ext cx="0" cy="594360"/>
          </a:xfrm>
          <a:prstGeom prst="line">
            <a:avLst/>
          </a:prstGeom>
          <a:noFill/>
          <a:ln w="15875">
            <a:solidFill>
              <a:srgbClr val="13213A"/>
            </a:solidFill>
            <a:prstDash val="solid"/>
          </a:ln>
        </p:spPr>
      </p:sp>
      <p:sp>
        <p:nvSpPr>
          <p:cNvPr id="60" name="cx-dot"/>
          <p:cNvSpPr/>
          <p:nvPr/>
        </p:nvSpPr>
        <p:spPr>
          <a:xfrm>
            <a:off x="3557016" y="3236976"/>
            <a:ext cx="109728" cy="109728"/>
          </a:xfrm>
          <a:prstGeom prst="ellipse">
            <a:avLst/>
          </a:prstGeom>
          <a:solidFill>
            <a:srgbClr val="13213A"/>
          </a:solidFill>
          <a:ln w="12700">
            <a:solidFill>
              <a:srgbClr val="13213A"/>
            </a:solidFill>
            <a:prstDash val="solid"/>
          </a:ln>
        </p:spPr>
      </p:sp>
      <p:sp>
        <p:nvSpPr>
          <p:cNvPr id="61" name="cx-target"/>
          <p:cNvSpPr/>
          <p:nvPr/>
        </p:nvSpPr>
        <p:spPr>
          <a:xfrm>
            <a:off x="3520440" y="3794760"/>
            <a:ext cx="182880" cy="182880"/>
          </a:xfrm>
          <a:prstGeom prst="ellipse">
            <a:avLst/>
          </a:prstGeom>
          <a:solidFill>
            <a:srgbClr val="FFFFFF"/>
          </a:solidFill>
          <a:ln w="15875">
            <a:solidFill>
              <a:srgbClr val="13213A"/>
            </a:solidFill>
            <a:prstDash val="solid"/>
          </a:ln>
        </p:spPr>
      </p:sp>
      <p:sp>
        <p:nvSpPr>
          <p:cNvPr id="62" name="cx"/>
          <p:cNvSpPr/>
          <p:nvPr/>
        </p:nvSpPr>
        <p:spPr>
          <a:xfrm>
            <a:off x="4617720" y="2103120"/>
            <a:ext cx="0" cy="594360"/>
          </a:xfrm>
          <a:prstGeom prst="line">
            <a:avLst/>
          </a:prstGeom>
          <a:noFill/>
          <a:ln w="15875">
            <a:solidFill>
              <a:srgbClr val="13213A"/>
            </a:solidFill>
            <a:prstDash val="solid"/>
          </a:ln>
        </p:spPr>
      </p:sp>
      <p:sp>
        <p:nvSpPr>
          <p:cNvPr id="63" name="cx-dot"/>
          <p:cNvSpPr/>
          <p:nvPr/>
        </p:nvSpPr>
        <p:spPr>
          <a:xfrm>
            <a:off x="4562856" y="2048256"/>
            <a:ext cx="109728" cy="109728"/>
          </a:xfrm>
          <a:prstGeom prst="ellipse">
            <a:avLst/>
          </a:prstGeom>
          <a:solidFill>
            <a:srgbClr val="13213A"/>
          </a:solidFill>
          <a:ln w="12700">
            <a:solidFill>
              <a:srgbClr val="13213A"/>
            </a:solidFill>
            <a:prstDash val="solid"/>
          </a:ln>
        </p:spPr>
      </p:sp>
      <p:sp>
        <p:nvSpPr>
          <p:cNvPr id="64" name="cx-target"/>
          <p:cNvSpPr/>
          <p:nvPr/>
        </p:nvSpPr>
        <p:spPr>
          <a:xfrm>
            <a:off x="4526280" y="2606040"/>
            <a:ext cx="182880" cy="182880"/>
          </a:xfrm>
          <a:prstGeom prst="ellipse">
            <a:avLst/>
          </a:prstGeom>
          <a:solidFill>
            <a:srgbClr val="FFFFFF"/>
          </a:solidFill>
          <a:ln w="15875">
            <a:solidFill>
              <a:srgbClr val="13213A"/>
            </a:solidFill>
            <a:prstDash val="solid"/>
          </a:ln>
        </p:spPr>
      </p:sp>
      <p:sp>
        <p:nvSpPr>
          <p:cNvPr id="65" name="cx"/>
          <p:cNvSpPr/>
          <p:nvPr/>
        </p:nvSpPr>
        <p:spPr>
          <a:xfrm>
            <a:off x="4846320" y="2697480"/>
            <a:ext cx="0" cy="594360"/>
          </a:xfrm>
          <a:prstGeom prst="line">
            <a:avLst/>
          </a:prstGeom>
          <a:noFill/>
          <a:ln w="15875">
            <a:solidFill>
              <a:srgbClr val="13213A"/>
            </a:solidFill>
            <a:prstDash val="solid"/>
          </a:ln>
        </p:spPr>
      </p:sp>
      <p:sp>
        <p:nvSpPr>
          <p:cNvPr id="66" name="cx-dot"/>
          <p:cNvSpPr/>
          <p:nvPr/>
        </p:nvSpPr>
        <p:spPr>
          <a:xfrm>
            <a:off x="4791456" y="2642616"/>
            <a:ext cx="109728" cy="109728"/>
          </a:xfrm>
          <a:prstGeom prst="ellipse">
            <a:avLst/>
          </a:prstGeom>
          <a:solidFill>
            <a:srgbClr val="13213A"/>
          </a:solidFill>
          <a:ln w="12700">
            <a:solidFill>
              <a:srgbClr val="13213A"/>
            </a:solidFill>
            <a:prstDash val="solid"/>
          </a:ln>
        </p:spPr>
      </p:sp>
      <p:sp>
        <p:nvSpPr>
          <p:cNvPr id="67" name="cx-target"/>
          <p:cNvSpPr/>
          <p:nvPr/>
        </p:nvSpPr>
        <p:spPr>
          <a:xfrm>
            <a:off x="4754880" y="3200400"/>
            <a:ext cx="182880" cy="182880"/>
          </a:xfrm>
          <a:prstGeom prst="ellipse">
            <a:avLst/>
          </a:prstGeom>
          <a:solidFill>
            <a:srgbClr val="FFFFFF"/>
          </a:solidFill>
          <a:ln w="15875">
            <a:solidFill>
              <a:srgbClr val="13213A"/>
            </a:solidFill>
            <a:prstDash val="solid"/>
          </a:ln>
        </p:spPr>
      </p:sp>
      <p:sp>
        <p:nvSpPr>
          <p:cNvPr id="68" name="cx"/>
          <p:cNvSpPr/>
          <p:nvPr/>
        </p:nvSpPr>
        <p:spPr>
          <a:xfrm>
            <a:off x="5029200" y="3291840"/>
            <a:ext cx="0" cy="594360"/>
          </a:xfrm>
          <a:prstGeom prst="line">
            <a:avLst/>
          </a:prstGeom>
          <a:noFill/>
          <a:ln w="15875">
            <a:solidFill>
              <a:srgbClr val="13213A"/>
            </a:solidFill>
            <a:prstDash val="solid"/>
          </a:ln>
        </p:spPr>
      </p:sp>
      <p:sp>
        <p:nvSpPr>
          <p:cNvPr id="69" name="cx-dot"/>
          <p:cNvSpPr/>
          <p:nvPr/>
        </p:nvSpPr>
        <p:spPr>
          <a:xfrm>
            <a:off x="4974336" y="3236976"/>
            <a:ext cx="109728" cy="109728"/>
          </a:xfrm>
          <a:prstGeom prst="ellipse">
            <a:avLst/>
          </a:prstGeom>
          <a:solidFill>
            <a:srgbClr val="13213A"/>
          </a:solidFill>
          <a:ln w="12700">
            <a:solidFill>
              <a:srgbClr val="13213A"/>
            </a:solidFill>
            <a:prstDash val="solid"/>
          </a:ln>
        </p:spPr>
      </p:sp>
      <p:sp>
        <p:nvSpPr>
          <p:cNvPr id="70" name="cx-target"/>
          <p:cNvSpPr/>
          <p:nvPr/>
        </p:nvSpPr>
        <p:spPr>
          <a:xfrm>
            <a:off x="4937760" y="3794760"/>
            <a:ext cx="182880" cy="182880"/>
          </a:xfrm>
          <a:prstGeom prst="ellipse">
            <a:avLst/>
          </a:prstGeom>
          <a:solidFill>
            <a:srgbClr val="FFFFFF"/>
          </a:solidFill>
          <a:ln w="15875">
            <a:solidFill>
              <a:srgbClr val="13213A"/>
            </a:solidFill>
            <a:prstDash val="solid"/>
          </a:ln>
        </p:spPr>
      </p:sp>
      <p:sp>
        <p:nvSpPr>
          <p:cNvPr id="71" name="Text 69"/>
          <p:cNvSpPr txBox="1"/>
          <p:nvPr/>
        </p:nvSpPr>
        <p:spPr>
          <a:xfrm>
            <a:off x="822960" y="4160520"/>
            <a:ext cx="5577840" cy="411480"/>
          </a:xfrm>
          <a:prstGeom prst="rect">
            <a:avLst/>
          </a:prstGeom>
          <a:noFill/>
          <a:ln/>
        </p:spPr>
        <p:txBody>
          <a:bodyPr wrap="square" lIns="0" tIns="0" rIns="0" bIns="0" rtlCol="0" anchor="t"/>
          <a:lstStyle/>
          <a:p>
            <a:pPr indent="0" marL="0">
              <a:buNone/>
            </a:pPr>
            <a:r>
              <a:rPr lang="en-US" sz="1100" dirty="0">
                <a:solidFill>
                  <a:schemeClr val="tx2"/>
                </a:solidFill>
              </a:rPr>
              <a:t>Green: data angles · Violet: 12 trained angles · Black: 6 entangling (CX) gates · Output: parity of 4 measured bits</a:t>
            </a:r>
            <a:endParaRPr lang="en-US" sz="1100" dirty="0"/>
          </a:p>
        </p:txBody>
      </p:sp>
      <p:sp>
        <p:nvSpPr>
          <p:cNvPr id="72" name="card"/>
          <p:cNvSpPr/>
          <p:nvPr/>
        </p:nvSpPr>
        <p:spPr>
          <a:xfrm>
            <a:off x="6858000" y="1325880"/>
            <a:ext cx="4754880" cy="1051560"/>
          </a:xfrm>
          <a:prstGeom prst="roundRect">
            <a:avLst>
              <a:gd name="adj" fmla="val 6957"/>
            </a:avLst>
          </a:prstGeom>
          <a:solidFill>
            <a:schemeClr val="bg1"/>
          </a:solidFill>
          <a:ln w="9525">
            <a:solidFill>
              <a:srgbClr val="D8DEE8"/>
            </a:solidFill>
            <a:prstDash val="solid"/>
          </a:ln>
        </p:spPr>
      </p:sp>
      <p:sp>
        <p:nvSpPr>
          <p:cNvPr id="73" name="Text 71"/>
          <p:cNvSpPr txBox="1"/>
          <p:nvPr/>
        </p:nvSpPr>
        <p:spPr>
          <a:xfrm>
            <a:off x="7132320" y="1463040"/>
            <a:ext cx="4297680" cy="365760"/>
          </a:xfrm>
          <a:prstGeom prst="rect">
            <a:avLst/>
          </a:prstGeom>
          <a:noFill/>
          <a:ln/>
        </p:spPr>
        <p:txBody>
          <a:bodyPr wrap="square" lIns="0" tIns="0" rIns="0" bIns="0" rtlCol="0" anchor="t"/>
          <a:lstStyle/>
          <a:p>
            <a:pPr indent="0" marL="0">
              <a:buNone/>
            </a:pPr>
            <a:r>
              <a:rPr lang="en-US" sz="1700" b="1" dirty="0">
                <a:solidFill>
                  <a:schemeClr val="accent3"/>
                </a:solidFill>
                <a:latin typeface="Cambria" pitchFamily="34" charset="0"/>
                <a:ea typeface="Cambria" pitchFamily="34" charset="-122"/>
                <a:cs typeface="Cambria" pitchFamily="34" charset="-120"/>
              </a:rPr>
              <a:t>Qiskit 2.5 + Aer 0.17</a:t>
            </a:r>
            <a:endParaRPr lang="en-US" sz="1700" dirty="0"/>
          </a:p>
        </p:txBody>
      </p:sp>
      <p:sp>
        <p:nvSpPr>
          <p:cNvPr id="74" name="Text 72"/>
          <p:cNvSpPr txBox="1"/>
          <p:nvPr/>
        </p:nvSpPr>
        <p:spPr>
          <a:xfrm>
            <a:off x="7132320" y="1874520"/>
            <a:ext cx="4297680" cy="411480"/>
          </a:xfrm>
          <a:prstGeom prst="rect">
            <a:avLst/>
          </a:prstGeom>
          <a:noFill/>
          <a:ln/>
        </p:spPr>
        <p:txBody>
          <a:bodyPr wrap="square" lIns="0" tIns="0" rIns="0" bIns="0" rtlCol="0" anchor="t"/>
          <a:lstStyle/>
          <a:p>
            <a:pPr indent="0" marL="0">
              <a:buNone/>
            </a:pPr>
            <a:r>
              <a:rPr lang="en-US" sz="1400" dirty="0">
                <a:solidFill>
                  <a:schemeClr val="tx2"/>
                </a:solidFill>
              </a:rPr>
              <a:t>Real circuits, real noise models, real shots</a:t>
            </a:r>
            <a:endParaRPr lang="en-US" sz="1400" dirty="0"/>
          </a:p>
        </p:txBody>
      </p:sp>
      <p:sp>
        <p:nvSpPr>
          <p:cNvPr id="75" name="card"/>
          <p:cNvSpPr/>
          <p:nvPr/>
        </p:nvSpPr>
        <p:spPr>
          <a:xfrm>
            <a:off x="6858000" y="2542032"/>
            <a:ext cx="4754880" cy="1051560"/>
          </a:xfrm>
          <a:prstGeom prst="roundRect">
            <a:avLst>
              <a:gd name="adj" fmla="val 6957"/>
            </a:avLst>
          </a:prstGeom>
          <a:solidFill>
            <a:schemeClr val="bg1"/>
          </a:solidFill>
          <a:ln w="9525">
            <a:solidFill>
              <a:srgbClr val="D8DEE8"/>
            </a:solidFill>
            <a:prstDash val="solid"/>
          </a:ln>
        </p:spPr>
      </p:sp>
      <p:sp>
        <p:nvSpPr>
          <p:cNvPr id="76" name="Text 74"/>
          <p:cNvSpPr txBox="1"/>
          <p:nvPr/>
        </p:nvSpPr>
        <p:spPr>
          <a:xfrm>
            <a:off x="7132320" y="2679192"/>
            <a:ext cx="4297680" cy="365760"/>
          </a:xfrm>
          <a:prstGeom prst="rect">
            <a:avLst/>
          </a:prstGeom>
          <a:noFill/>
          <a:ln/>
        </p:spPr>
        <p:txBody>
          <a:bodyPr wrap="square" lIns="0" tIns="0" rIns="0" bIns="0" rtlCol="0" anchor="t"/>
          <a:lstStyle/>
          <a:p>
            <a:pPr indent="0" marL="0">
              <a:buNone/>
            </a:pPr>
            <a:r>
              <a:rPr lang="en-US" sz="1700" b="1" dirty="0">
                <a:solidFill>
                  <a:schemeClr val="accent3"/>
                </a:solidFill>
                <a:latin typeface="Cambria" pitchFamily="34" charset="0"/>
                <a:ea typeface="Cambria" pitchFamily="34" charset="-122"/>
                <a:cs typeface="Cambria" pitchFamily="34" charset="-120"/>
              </a:rPr>
              <a:t>13 automated tests</a:t>
            </a:r>
            <a:endParaRPr lang="en-US" sz="1700" dirty="0"/>
          </a:p>
        </p:txBody>
      </p:sp>
      <p:sp>
        <p:nvSpPr>
          <p:cNvPr id="77" name="Text 75"/>
          <p:cNvSpPr txBox="1"/>
          <p:nvPr/>
        </p:nvSpPr>
        <p:spPr>
          <a:xfrm>
            <a:off x="7132320" y="3090672"/>
            <a:ext cx="4297680" cy="411480"/>
          </a:xfrm>
          <a:prstGeom prst="rect">
            <a:avLst/>
          </a:prstGeom>
          <a:noFill/>
          <a:ln/>
        </p:spPr>
        <p:txBody>
          <a:bodyPr wrap="square" lIns="0" tIns="0" rIns="0" bIns="0" rtlCol="0" anchor="t"/>
          <a:lstStyle/>
          <a:p>
            <a:pPr indent="0" marL="0">
              <a:buNone/>
            </a:pPr>
            <a:r>
              <a:rPr lang="en-US" sz="1400" dirty="0">
                <a:solidFill>
                  <a:schemeClr val="tx2"/>
                </a:solidFill>
              </a:rPr>
              <a:t>Noise-free match, seeds, leakage, no clipping</a:t>
            </a:r>
            <a:endParaRPr lang="en-US" sz="1400" dirty="0"/>
          </a:p>
        </p:txBody>
      </p:sp>
      <p:sp>
        <p:nvSpPr>
          <p:cNvPr id="78" name="card"/>
          <p:cNvSpPr/>
          <p:nvPr/>
        </p:nvSpPr>
        <p:spPr>
          <a:xfrm>
            <a:off x="6858000" y="3758184"/>
            <a:ext cx="4754880" cy="1051560"/>
          </a:xfrm>
          <a:prstGeom prst="roundRect">
            <a:avLst>
              <a:gd name="adj" fmla="val 6957"/>
            </a:avLst>
          </a:prstGeom>
          <a:solidFill>
            <a:schemeClr val="bg1"/>
          </a:solidFill>
          <a:ln w="9525">
            <a:solidFill>
              <a:srgbClr val="D8DEE8"/>
            </a:solidFill>
            <a:prstDash val="solid"/>
          </a:ln>
        </p:spPr>
      </p:sp>
      <p:sp>
        <p:nvSpPr>
          <p:cNvPr id="79" name="Text 77"/>
          <p:cNvSpPr txBox="1"/>
          <p:nvPr/>
        </p:nvSpPr>
        <p:spPr>
          <a:xfrm>
            <a:off x="7132320" y="3895344"/>
            <a:ext cx="4297680" cy="365760"/>
          </a:xfrm>
          <a:prstGeom prst="rect">
            <a:avLst/>
          </a:prstGeom>
          <a:noFill/>
          <a:ln/>
        </p:spPr>
        <p:txBody>
          <a:bodyPr wrap="square" lIns="0" tIns="0" rIns="0" bIns="0" rtlCol="0" anchor="t"/>
          <a:lstStyle/>
          <a:p>
            <a:pPr indent="0" marL="0">
              <a:buNone/>
            </a:pPr>
            <a:r>
              <a:rPr lang="en-US" sz="1700" b="1" dirty="0">
                <a:solidFill>
                  <a:schemeClr val="accent3"/>
                </a:solidFill>
                <a:latin typeface="Cambria" pitchFamily="34" charset="0"/>
                <a:ea typeface="Cambria" pitchFamily="34" charset="-122"/>
                <a:cs typeface="Cambria" pitchFamily="34" charset="-120"/>
              </a:rPr>
              <a:t>Reproduced exactly</a:t>
            </a:r>
            <a:endParaRPr lang="en-US" sz="1700" dirty="0"/>
          </a:p>
        </p:txBody>
      </p:sp>
      <p:sp>
        <p:nvSpPr>
          <p:cNvPr id="80" name="Text 78"/>
          <p:cNvSpPr txBox="1"/>
          <p:nvPr/>
        </p:nvSpPr>
        <p:spPr>
          <a:xfrm>
            <a:off x="7132320" y="4306824"/>
            <a:ext cx="4297680" cy="411480"/>
          </a:xfrm>
          <a:prstGeom prst="rect">
            <a:avLst/>
          </a:prstGeom>
          <a:noFill/>
          <a:ln/>
        </p:spPr>
        <p:txBody>
          <a:bodyPr wrap="square" lIns="0" tIns="0" rIns="0" bIns="0" rtlCol="0" anchor="t"/>
          <a:lstStyle/>
          <a:p>
            <a:pPr indent="0" marL="0">
              <a:buNone/>
            </a:pPr>
            <a:r>
              <a:rPr lang="en-US" sz="1400" dirty="0">
                <a:solidFill>
                  <a:schemeClr val="tx2"/>
                </a:solidFill>
              </a:rPr>
              <a:t>Re-running training gave identical results</a:t>
            </a:r>
            <a:endParaRPr lang="en-US" sz="1400" dirty="0"/>
          </a:p>
        </p:txBody>
      </p:sp>
      <p:sp>
        <p:nvSpPr>
          <p:cNvPr id="81" name="card"/>
          <p:cNvSpPr/>
          <p:nvPr/>
        </p:nvSpPr>
        <p:spPr>
          <a:xfrm>
            <a:off x="6858000" y="4974336"/>
            <a:ext cx="4754880" cy="1051560"/>
          </a:xfrm>
          <a:prstGeom prst="roundRect">
            <a:avLst>
              <a:gd name="adj" fmla="val 6957"/>
            </a:avLst>
          </a:prstGeom>
          <a:solidFill>
            <a:schemeClr val="bg1"/>
          </a:solidFill>
          <a:ln w="9525">
            <a:solidFill>
              <a:srgbClr val="D8DEE8"/>
            </a:solidFill>
            <a:prstDash val="solid"/>
          </a:ln>
        </p:spPr>
      </p:sp>
      <p:sp>
        <p:nvSpPr>
          <p:cNvPr id="82" name="Text 80"/>
          <p:cNvSpPr txBox="1"/>
          <p:nvPr/>
        </p:nvSpPr>
        <p:spPr>
          <a:xfrm>
            <a:off x="7132320" y="5111496"/>
            <a:ext cx="4297680" cy="365760"/>
          </a:xfrm>
          <a:prstGeom prst="rect">
            <a:avLst/>
          </a:prstGeom>
          <a:noFill/>
          <a:ln/>
        </p:spPr>
        <p:txBody>
          <a:bodyPr wrap="square" lIns="0" tIns="0" rIns="0" bIns="0" rtlCol="0" anchor="t"/>
          <a:lstStyle/>
          <a:p>
            <a:pPr indent="0" marL="0">
              <a:buNone/>
            </a:pPr>
            <a:r>
              <a:rPr lang="en-US" sz="1700" b="1" dirty="0">
                <a:solidFill>
                  <a:schemeClr val="accent3"/>
                </a:solidFill>
                <a:latin typeface="Cambria" pitchFamily="34" charset="0"/>
                <a:ea typeface="Cambria" pitchFamily="34" charset="-122"/>
                <a:cs typeface="Cambria" pitchFamily="34" charset="-120"/>
              </a:rPr>
              <a:t>Every number traceable</a:t>
            </a:r>
            <a:endParaRPr lang="en-US" sz="1700" dirty="0"/>
          </a:p>
        </p:txBody>
      </p:sp>
      <p:sp>
        <p:nvSpPr>
          <p:cNvPr id="83" name="Text 81"/>
          <p:cNvSpPr txBox="1"/>
          <p:nvPr/>
        </p:nvSpPr>
        <p:spPr>
          <a:xfrm>
            <a:off x="7132320" y="5522976"/>
            <a:ext cx="4297680" cy="411480"/>
          </a:xfrm>
          <a:prstGeom prst="rect">
            <a:avLst/>
          </a:prstGeom>
          <a:noFill/>
          <a:ln/>
        </p:spPr>
        <p:txBody>
          <a:bodyPr wrap="square" lIns="0" tIns="0" rIns="0" bIns="0" rtlCol="0" anchor="t"/>
          <a:lstStyle/>
          <a:p>
            <a:pPr indent="0" marL="0">
              <a:buNone/>
            </a:pPr>
            <a:r>
              <a:rPr lang="en-US" sz="1400" dirty="0">
                <a:solidFill>
                  <a:schemeClr val="tx2"/>
                </a:solidFill>
              </a:rPr>
              <a:t>Schema-checked JSON tied to data, seeds, settings</a:t>
            </a:r>
            <a:endParaRPr lang="en-US" sz="1400" dirty="0"/>
          </a:p>
        </p:txBody>
      </p:sp>
      <p:sp>
        <p:nvSpPr>
          <p:cNvPr id="84" name="Text 82"/>
          <p:cNvSpPr txBox="1"/>
          <p:nvPr/>
        </p:nvSpPr>
        <p:spPr>
          <a:xfrm>
            <a:off x="548640" y="4892040"/>
            <a:ext cx="6035040" cy="640080"/>
          </a:xfrm>
          <a:prstGeom prst="rect">
            <a:avLst/>
          </a:prstGeom>
          <a:noFill/>
          <a:ln/>
        </p:spPr>
        <p:txBody>
          <a:bodyPr wrap="square" lIns="0" tIns="0" rIns="0" bIns="0" rtlCol="0" anchor="t"/>
          <a:lstStyle/>
          <a:p>
            <a:pPr indent="0" marL="0">
              <a:buNone/>
            </a:pPr>
            <a:r>
              <a:rPr lang="en-US" sz="1400" i="1" dirty="0">
                <a:solidFill>
                  <a:schemeClr val="tx2"/>
                </a:solidFill>
              </a:rPr>
              <a:t>Website shows saved runs and labels them as playback, not live simulation.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Feasibility: small, fast and runnable anywhere</a:t>
            </a:r>
            <a:endParaRPr lang="en-US" sz="3000" dirty="0"/>
          </a:p>
        </p:txBody>
      </p:sp>
      <p:sp>
        <p:nvSpPr>
          <p:cNvPr id="3" name="card"/>
          <p:cNvSpPr/>
          <p:nvPr/>
        </p:nvSpPr>
        <p:spPr>
          <a:xfrm>
            <a:off x="548640" y="1325880"/>
            <a:ext cx="2606040" cy="1737360"/>
          </a:xfrm>
          <a:prstGeom prst="roundRect">
            <a:avLst>
              <a:gd name="adj" fmla="val 4211"/>
            </a:avLst>
          </a:prstGeom>
          <a:solidFill>
            <a:schemeClr val="bg2"/>
          </a:solidFill>
          <a:ln w="9525">
            <a:solidFill>
              <a:schemeClr val="bg2"/>
            </a:solidFill>
            <a:prstDash val="solid"/>
          </a:ln>
        </p:spPr>
      </p:sp>
      <p:sp>
        <p:nvSpPr>
          <p:cNvPr id="4" name="Text 2"/>
          <p:cNvSpPr txBox="1"/>
          <p:nvPr/>
        </p:nvSpPr>
        <p:spPr>
          <a:xfrm>
            <a:off x="822960" y="1463040"/>
            <a:ext cx="2103120" cy="822960"/>
          </a:xfrm>
          <a:prstGeom prst="rect">
            <a:avLst/>
          </a:prstGeom>
          <a:noFill/>
          <a:ln/>
        </p:spPr>
        <p:txBody>
          <a:bodyPr wrap="square" lIns="0" tIns="0" rIns="0" bIns="0" rtlCol="0" anchor="t"/>
          <a:lstStyle/>
          <a:p>
            <a:pPr indent="0" marL="0">
              <a:buNone/>
            </a:pPr>
            <a:r>
              <a:rPr lang="en-US" sz="4000" b="1" dirty="0">
                <a:solidFill>
                  <a:schemeClr val="accent5"/>
                </a:solidFill>
                <a:latin typeface="Cambria" pitchFamily="34" charset="0"/>
                <a:ea typeface="Cambria" pitchFamily="34" charset="-122"/>
                <a:cs typeface="Cambria" pitchFamily="34" charset="-120"/>
              </a:rPr>
              <a:t>4</a:t>
            </a:r>
            <a:endParaRPr lang="en-US" sz="4000" dirty="0"/>
          </a:p>
        </p:txBody>
      </p:sp>
      <p:sp>
        <p:nvSpPr>
          <p:cNvPr id="5" name="Text 3"/>
          <p:cNvSpPr txBox="1"/>
          <p:nvPr/>
        </p:nvSpPr>
        <p:spPr>
          <a:xfrm>
            <a:off x="822960" y="2331720"/>
            <a:ext cx="2103120" cy="548640"/>
          </a:xfrm>
          <a:prstGeom prst="rect">
            <a:avLst/>
          </a:prstGeom>
          <a:noFill/>
          <a:ln/>
        </p:spPr>
        <p:txBody>
          <a:bodyPr wrap="square" lIns="0" tIns="0" rIns="0" bIns="0" rtlCol="0" anchor="t"/>
          <a:lstStyle/>
          <a:p>
            <a:pPr indent="0" marL="0">
              <a:buNone/>
            </a:pPr>
            <a:r>
              <a:rPr lang="en-US" sz="1400" dirty="0">
                <a:solidFill>
                  <a:schemeClr val="tx2"/>
                </a:solidFill>
              </a:rPr>
              <a:t>qubits</a:t>
            </a:r>
            <a:endParaRPr lang="en-US" sz="1400" dirty="0"/>
          </a:p>
        </p:txBody>
      </p:sp>
      <p:sp>
        <p:nvSpPr>
          <p:cNvPr id="6" name="card"/>
          <p:cNvSpPr/>
          <p:nvPr/>
        </p:nvSpPr>
        <p:spPr>
          <a:xfrm>
            <a:off x="3383280" y="1325880"/>
            <a:ext cx="2606040" cy="1737360"/>
          </a:xfrm>
          <a:prstGeom prst="roundRect">
            <a:avLst>
              <a:gd name="adj" fmla="val 4211"/>
            </a:avLst>
          </a:prstGeom>
          <a:solidFill>
            <a:schemeClr val="bg2"/>
          </a:solidFill>
          <a:ln w="9525">
            <a:solidFill>
              <a:schemeClr val="bg2"/>
            </a:solidFill>
            <a:prstDash val="solid"/>
          </a:ln>
        </p:spPr>
      </p:sp>
      <p:sp>
        <p:nvSpPr>
          <p:cNvPr id="7" name="Text 5"/>
          <p:cNvSpPr txBox="1"/>
          <p:nvPr/>
        </p:nvSpPr>
        <p:spPr>
          <a:xfrm>
            <a:off x="3657600" y="1463040"/>
            <a:ext cx="2103120" cy="822960"/>
          </a:xfrm>
          <a:prstGeom prst="rect">
            <a:avLst/>
          </a:prstGeom>
          <a:noFill/>
          <a:ln/>
        </p:spPr>
        <p:txBody>
          <a:bodyPr wrap="square" lIns="0" tIns="0" rIns="0" bIns="0" rtlCol="0" anchor="t"/>
          <a:lstStyle/>
          <a:p>
            <a:pPr indent="0" marL="0">
              <a:buNone/>
            </a:pPr>
            <a:r>
              <a:rPr lang="en-US" sz="4000" b="1" dirty="0">
                <a:solidFill>
                  <a:schemeClr val="accent5"/>
                </a:solidFill>
                <a:latin typeface="Cambria" pitchFamily="34" charset="0"/>
                <a:ea typeface="Cambria" pitchFamily="34" charset="-122"/>
                <a:cs typeface="Cambria" pitchFamily="34" charset="-120"/>
              </a:rPr>
              <a:t>~4 min</a:t>
            </a:r>
            <a:endParaRPr lang="en-US" sz="4000" dirty="0"/>
          </a:p>
        </p:txBody>
      </p:sp>
      <p:sp>
        <p:nvSpPr>
          <p:cNvPr id="8" name="Text 6"/>
          <p:cNvSpPr txBox="1"/>
          <p:nvPr/>
        </p:nvSpPr>
        <p:spPr>
          <a:xfrm>
            <a:off x="3657600" y="2331720"/>
            <a:ext cx="2103120" cy="548640"/>
          </a:xfrm>
          <a:prstGeom prst="rect">
            <a:avLst/>
          </a:prstGeom>
          <a:noFill/>
          <a:ln/>
        </p:spPr>
        <p:txBody>
          <a:bodyPr wrap="square" lIns="0" tIns="0" rIns="0" bIns="0" rtlCol="0" anchor="t"/>
          <a:lstStyle/>
          <a:p>
            <a:pPr indent="0" marL="0">
              <a:buNone/>
            </a:pPr>
            <a:r>
              <a:rPr lang="en-US" sz="1400" dirty="0">
                <a:solidFill>
                  <a:schemeClr val="tx2"/>
                </a:solidFill>
              </a:rPr>
              <a:t>to build the dataset</a:t>
            </a:r>
            <a:endParaRPr lang="en-US" sz="1400" dirty="0"/>
          </a:p>
        </p:txBody>
      </p:sp>
      <p:sp>
        <p:nvSpPr>
          <p:cNvPr id="9" name="card"/>
          <p:cNvSpPr/>
          <p:nvPr/>
        </p:nvSpPr>
        <p:spPr>
          <a:xfrm>
            <a:off x="6217920" y="1325880"/>
            <a:ext cx="2606040" cy="1737360"/>
          </a:xfrm>
          <a:prstGeom prst="roundRect">
            <a:avLst>
              <a:gd name="adj" fmla="val 4211"/>
            </a:avLst>
          </a:prstGeom>
          <a:solidFill>
            <a:schemeClr val="bg2"/>
          </a:solidFill>
          <a:ln w="9525">
            <a:solidFill>
              <a:schemeClr val="bg2"/>
            </a:solidFill>
            <a:prstDash val="solid"/>
          </a:ln>
        </p:spPr>
      </p:sp>
      <p:sp>
        <p:nvSpPr>
          <p:cNvPr id="10" name="Text 8"/>
          <p:cNvSpPr txBox="1"/>
          <p:nvPr/>
        </p:nvSpPr>
        <p:spPr>
          <a:xfrm>
            <a:off x="6492240" y="1463040"/>
            <a:ext cx="2103120" cy="822960"/>
          </a:xfrm>
          <a:prstGeom prst="rect">
            <a:avLst/>
          </a:prstGeom>
          <a:noFill/>
          <a:ln/>
        </p:spPr>
        <p:txBody>
          <a:bodyPr wrap="square" lIns="0" tIns="0" rIns="0" bIns="0" rtlCol="0" anchor="t"/>
          <a:lstStyle/>
          <a:p>
            <a:pPr indent="0" marL="0">
              <a:buNone/>
            </a:pPr>
            <a:r>
              <a:rPr lang="en-US" sz="4000" b="1" dirty="0">
                <a:solidFill>
                  <a:schemeClr val="accent5"/>
                </a:solidFill>
                <a:latin typeface="Cambria" pitchFamily="34" charset="0"/>
                <a:ea typeface="Cambria" pitchFamily="34" charset="-122"/>
                <a:cs typeface="Cambria" pitchFamily="34" charset="-120"/>
              </a:rPr>
              <a:t>~70 s</a:t>
            </a:r>
            <a:endParaRPr lang="en-US" sz="4000" dirty="0"/>
          </a:p>
        </p:txBody>
      </p:sp>
      <p:sp>
        <p:nvSpPr>
          <p:cNvPr id="11" name="Text 9"/>
          <p:cNvSpPr txBox="1"/>
          <p:nvPr/>
        </p:nvSpPr>
        <p:spPr>
          <a:xfrm>
            <a:off x="6492240" y="2331720"/>
            <a:ext cx="2103120" cy="548640"/>
          </a:xfrm>
          <a:prstGeom prst="rect">
            <a:avLst/>
          </a:prstGeom>
          <a:noFill/>
          <a:ln/>
        </p:spPr>
        <p:txBody>
          <a:bodyPr wrap="square" lIns="0" tIns="0" rIns="0" bIns="0" rtlCol="0" anchor="t"/>
          <a:lstStyle/>
          <a:p>
            <a:pPr indent="0" marL="0">
              <a:buNone/>
            </a:pPr>
            <a:r>
              <a:rPr lang="en-US" sz="1400" dirty="0">
                <a:solidFill>
                  <a:schemeClr val="tx2"/>
                </a:solidFill>
              </a:rPr>
              <a:t>for a full noise sweep</a:t>
            </a:r>
            <a:endParaRPr lang="en-US" sz="1400" dirty="0"/>
          </a:p>
        </p:txBody>
      </p:sp>
      <p:sp>
        <p:nvSpPr>
          <p:cNvPr id="12" name="card"/>
          <p:cNvSpPr/>
          <p:nvPr/>
        </p:nvSpPr>
        <p:spPr>
          <a:xfrm>
            <a:off x="9052560" y="1325880"/>
            <a:ext cx="2606040" cy="1737360"/>
          </a:xfrm>
          <a:prstGeom prst="roundRect">
            <a:avLst>
              <a:gd name="adj" fmla="val 4211"/>
            </a:avLst>
          </a:prstGeom>
          <a:solidFill>
            <a:schemeClr val="bg2"/>
          </a:solidFill>
          <a:ln w="9525">
            <a:solidFill>
              <a:schemeClr val="bg2"/>
            </a:solidFill>
            <a:prstDash val="solid"/>
          </a:ln>
        </p:spPr>
      </p:sp>
      <p:sp>
        <p:nvSpPr>
          <p:cNvPr id="13" name="Text 11"/>
          <p:cNvSpPr txBox="1"/>
          <p:nvPr/>
        </p:nvSpPr>
        <p:spPr>
          <a:xfrm>
            <a:off x="9326880" y="1463040"/>
            <a:ext cx="2103120" cy="822960"/>
          </a:xfrm>
          <a:prstGeom prst="rect">
            <a:avLst/>
          </a:prstGeom>
          <a:noFill/>
          <a:ln/>
        </p:spPr>
        <p:txBody>
          <a:bodyPr wrap="square" lIns="0" tIns="0" rIns="0" bIns="0" rtlCol="0" anchor="t"/>
          <a:lstStyle/>
          <a:p>
            <a:pPr indent="0" marL="0">
              <a:buNone/>
            </a:pPr>
            <a:r>
              <a:rPr lang="en-US" sz="4000" b="1" dirty="0">
                <a:solidFill>
                  <a:schemeClr val="accent5"/>
                </a:solidFill>
                <a:latin typeface="Cambria" pitchFamily="34" charset="0"/>
                <a:ea typeface="Cambria" pitchFamily="34" charset="-122"/>
                <a:cs typeface="Cambria" pitchFamily="34" charset="-120"/>
              </a:rPr>
              <a:t>0</a:t>
            </a:r>
            <a:endParaRPr lang="en-US" sz="4000" dirty="0"/>
          </a:p>
        </p:txBody>
      </p:sp>
      <p:sp>
        <p:nvSpPr>
          <p:cNvPr id="14" name="Text 12"/>
          <p:cNvSpPr txBox="1"/>
          <p:nvPr/>
        </p:nvSpPr>
        <p:spPr>
          <a:xfrm>
            <a:off x="9326880" y="2331720"/>
            <a:ext cx="2103120" cy="548640"/>
          </a:xfrm>
          <a:prstGeom prst="rect">
            <a:avLst/>
          </a:prstGeom>
          <a:noFill/>
          <a:ln/>
        </p:spPr>
        <p:txBody>
          <a:bodyPr wrap="square" lIns="0" tIns="0" rIns="0" bIns="0" rtlCol="0" anchor="t"/>
          <a:lstStyle/>
          <a:p>
            <a:pPr indent="0" marL="0">
              <a:buNone/>
            </a:pPr>
            <a:r>
              <a:rPr lang="en-US" sz="1400" dirty="0">
                <a:solidFill>
                  <a:schemeClr val="tx2"/>
                </a:solidFill>
              </a:rPr>
              <a:t>quantum hardware needed</a:t>
            </a:r>
            <a:endParaRPr lang="en-US" sz="1400" dirty="0"/>
          </a:p>
        </p:txBody>
      </p:sp>
      <p:sp>
        <p:nvSpPr>
          <p:cNvPr id="15" name="Text 13"/>
          <p:cNvSpPr txBox="1"/>
          <p:nvPr/>
        </p:nvSpPr>
        <p:spPr>
          <a:xfrm>
            <a:off x="548640" y="3429000"/>
            <a:ext cx="5394960" cy="2651760"/>
          </a:xfrm>
          <a:prstGeom prst="rect">
            <a:avLst/>
          </a:prstGeom>
          <a:noFill/>
          <a:ln/>
        </p:spPr>
        <p:txBody>
          <a:bodyPr wrap="square" lIns="0" tIns="0" rIns="0" bIns="0" rtlCol="0" anchor="t"/>
          <a:lstStyle/>
          <a:p>
            <a:pPr indent="0" marL="0">
              <a:buNone/>
            </a:pPr>
            <a:r>
              <a:rPr lang="en-US" sz="1800" b="1" dirty="0">
                <a:solidFill>
                  <a:srgbClr val="13213A"/>
                </a:solidFill>
              </a:rPr>
              <a:t>Runs on what we have</a:t>
            </a:r>
            <a:endParaRPr lang="en-US" sz="1400" dirty="0"/>
          </a:p>
          <a:p>
            <a:pPr marL="342900" indent="-342900">
              <a:spcAft>
                <a:spcPts val="600"/>
              </a:spcAft>
              <a:buSzPct val="100000"/>
              <a:buChar char="•"/>
            </a:pPr>
            <a:r>
              <a:rPr lang="en-US" sz="1500" dirty="0">
                <a:solidFill>
                  <a:srgbClr val="4A5568"/>
                </a:solidFill>
              </a:rPr>
              <a:t>Google Colab or any laptop with Python</a:t>
            </a:r>
            <a:endParaRPr lang="en-US" sz="1400" dirty="0"/>
          </a:p>
          <a:p>
            <a:pPr marL="342900" indent="-342900">
              <a:spcAft>
                <a:spcPts val="600"/>
              </a:spcAft>
              <a:buSzPct val="100000"/>
              <a:buChar char="•"/>
            </a:pPr>
            <a:r>
              <a:rPr lang="en-US" sz="1500" dirty="0">
                <a:solidFill>
                  <a:srgbClr val="4A5568"/>
                </a:solidFill>
              </a:rPr>
              <a:t>Simulator only; IBM hardware is optional</a:t>
            </a:r>
            <a:endParaRPr lang="en-US" sz="1400" dirty="0"/>
          </a:p>
          <a:p>
            <a:pPr marL="342900" indent="-342900">
              <a:spcAft>
                <a:spcPts val="600"/>
              </a:spcAft>
              <a:buSzPct val="100000"/>
              <a:buChar char="•"/>
            </a:pPr>
            <a:r>
              <a:rPr lang="en-US" sz="1500" dirty="0">
                <a:solidFill>
                  <a:srgbClr val="4A5568"/>
                </a:solidFill>
              </a:rPr>
              <a:t>Website works offline as one HTML file</a:t>
            </a:r>
            <a:endParaRPr lang="en-US" sz="1400" dirty="0"/>
          </a:p>
          <a:p>
            <a:pPr marL="342900" indent="-342900">
              <a:spcAft>
                <a:spcPts val="600"/>
              </a:spcAft>
              <a:buSzPct val="100000"/>
              <a:buChar char="•"/>
            </a:pPr>
            <a:r>
              <a:rPr lang="en-US" sz="1500" dirty="0">
                <a:solidFill>
                  <a:srgbClr val="4A5568"/>
                </a:solidFill>
              </a:rPr>
              <a:t>One command reproduces the experiment</a:t>
            </a:r>
            <a:endParaRPr lang="en-US" sz="1400" dirty="0"/>
          </a:p>
        </p:txBody>
      </p:sp>
      <p:sp>
        <p:nvSpPr>
          <p:cNvPr id="16" name="Text 14"/>
          <p:cNvSpPr txBox="1"/>
          <p:nvPr/>
        </p:nvSpPr>
        <p:spPr>
          <a:xfrm>
            <a:off x="6217920" y="3429000"/>
            <a:ext cx="5394960" cy="2651760"/>
          </a:xfrm>
          <a:prstGeom prst="rect">
            <a:avLst/>
          </a:prstGeom>
          <a:noFill/>
          <a:ln/>
        </p:spPr>
        <p:txBody>
          <a:bodyPr wrap="square" lIns="0" tIns="0" rIns="0" bIns="0" rtlCol="0" anchor="t"/>
          <a:lstStyle/>
          <a:p>
            <a:pPr indent="0" marL="0">
              <a:buNone/>
            </a:pPr>
            <a:r>
              <a:rPr lang="en-US" sz="1800" b="1" dirty="0">
                <a:solidFill>
                  <a:srgbClr val="13213A"/>
                </a:solidFill>
              </a:rPr>
              <a:t>Clear team roles</a:t>
            </a:r>
            <a:endParaRPr lang="en-US" sz="1400" dirty="0"/>
          </a:p>
          <a:p>
            <a:pPr marL="342900" indent="-342900">
              <a:spcAft>
                <a:spcPts val="600"/>
              </a:spcAft>
              <a:buSzPct val="100000"/>
              <a:buChar char="•"/>
            </a:pPr>
            <a:r>
              <a:rPr lang="en-US" sz="1500" dirty="0">
                <a:solidFill>
                  <a:srgbClr val="4A5568"/>
                </a:solidFill>
              </a:rPr>
              <a:t>Quantum: circuit, noise, mitigation</a:t>
            </a:r>
            <a:endParaRPr lang="en-US" sz="1400" dirty="0"/>
          </a:p>
          <a:p>
            <a:pPr marL="342900" indent="-342900">
              <a:spcAft>
                <a:spcPts val="600"/>
              </a:spcAft>
              <a:buSzPct val="100000"/>
              <a:buChar char="•"/>
            </a:pPr>
            <a:r>
              <a:rPr lang="en-US" sz="1500" dirty="0">
                <a:solidFill>
                  <a:srgbClr val="4A5568"/>
                </a:solidFill>
              </a:rPr>
              <a:t>Data and evaluation: dataset, baselines, metrics</a:t>
            </a:r>
            <a:endParaRPr lang="en-US" sz="1400" dirty="0"/>
          </a:p>
          <a:p>
            <a:pPr marL="342900" indent="-342900">
              <a:spcAft>
                <a:spcPts val="600"/>
              </a:spcAft>
              <a:buSzPct val="100000"/>
              <a:buChar char="•"/>
            </a:pPr>
            <a:r>
              <a:rPr lang="en-US" sz="1500" dirty="0">
                <a:solidFill>
                  <a:srgbClr val="4A5568"/>
                </a:solidFill>
              </a:rPr>
              <a:t>Website and VR: dashboard, optional Quest view</a:t>
            </a:r>
            <a:endParaRPr lang="en-US" sz="1400" dirty="0"/>
          </a:p>
          <a:p>
            <a:pPr marL="342900" indent="-342900">
              <a:spcAft>
                <a:spcPts val="600"/>
              </a:spcAft>
              <a:buSzPct val="100000"/>
              <a:buChar char="•"/>
            </a:pPr>
            <a:r>
              <a:rPr lang="en-US" sz="1500" dirty="0">
                <a:solidFill>
                  <a:srgbClr val="4A5568"/>
                </a:solidFill>
              </a:rPr>
              <a:t>Pitch and docs: slides, claims check, demo</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Results: a tie on accuracy, a clear trade-off on noise</a:t>
            </a:r>
            <a:endParaRPr lang="en-US" sz="3000" dirty="0"/>
          </a:p>
        </p:txBody>
      </p:sp>
      <p:graphicFrame>
        <p:nvGraphicFramePr>
          <p:cNvPr id="3" name="Chart 0" descr=""/>
          <p:cNvGraphicFramePr/>
          <p:nvPr/>
        </p:nvGraphicFramePr>
        <p:xfrm>
          <a:off x="548640" y="1280160"/>
          <a:ext cx="548640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172200" y="1280160"/>
          <a:ext cx="5486400" cy="3566160"/>
        </p:xfrm>
        <a:graphic xmlns:a="http://schemas.openxmlformats.org/drawingml/2006/main">
          <a:graphicData uri="http://schemas.openxmlformats.org/drawingml/2006/chart">
            <c:chart xmlns:c="http://schemas.openxmlformats.org/drawingml/2006/chart" r:id="rId2"/>
          </a:graphicData>
        </a:graphic>
      </p:graphicFrame>
      <p:sp>
        <p:nvSpPr>
          <p:cNvPr id="5" name="Text 1"/>
          <p:cNvSpPr txBox="1"/>
          <p:nvPr/>
        </p:nvSpPr>
        <p:spPr>
          <a:xfrm>
            <a:off x="548640" y="5029200"/>
            <a:ext cx="2697480" cy="50292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85.7% vs 85.2%</a:t>
            </a:r>
            <a:endParaRPr lang="en-US" sz="2200" dirty="0"/>
          </a:p>
        </p:txBody>
      </p:sp>
      <p:sp>
        <p:nvSpPr>
          <p:cNvPr id="6" name="Text 2"/>
          <p:cNvSpPr txBox="1"/>
          <p:nvPr/>
        </p:nvSpPr>
        <p:spPr>
          <a:xfrm>
            <a:off x="548640" y="5532120"/>
            <a:ext cx="2697480" cy="365760"/>
          </a:xfrm>
          <a:prstGeom prst="rect">
            <a:avLst/>
          </a:prstGeom>
          <a:noFill/>
          <a:ln/>
        </p:spPr>
        <p:txBody>
          <a:bodyPr wrap="square" lIns="0" tIns="0" rIns="0" bIns="0" rtlCol="0" anchor="t"/>
          <a:lstStyle/>
          <a:p>
            <a:pPr indent="0" marL="0">
              <a:buNone/>
            </a:pPr>
            <a:r>
              <a:rPr lang="en-US" sz="1300" dirty="0">
                <a:solidFill>
                  <a:schemeClr val="tx2"/>
                </a:solidFill>
              </a:rPr>
              <a:t>quantum vs classical accuracy</a:t>
            </a:r>
            <a:endParaRPr lang="en-US" sz="1300" dirty="0"/>
          </a:p>
        </p:txBody>
      </p:sp>
      <p:sp>
        <p:nvSpPr>
          <p:cNvPr id="7" name="Text 3"/>
          <p:cNvSpPr txBox="1"/>
          <p:nvPr/>
        </p:nvSpPr>
        <p:spPr>
          <a:xfrm>
            <a:off x="3383280" y="5029200"/>
            <a:ext cx="2697480" cy="50292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4.7% → 1.6%</a:t>
            </a:r>
            <a:endParaRPr lang="en-US" sz="2200" dirty="0"/>
          </a:p>
        </p:txBody>
      </p:sp>
      <p:sp>
        <p:nvSpPr>
          <p:cNvPr id="8" name="Text 4"/>
          <p:cNvSpPr txBox="1"/>
          <p:nvPr/>
        </p:nvSpPr>
        <p:spPr>
          <a:xfrm>
            <a:off x="3383280" y="5532120"/>
            <a:ext cx="2697480" cy="365760"/>
          </a:xfrm>
          <a:prstGeom prst="rect">
            <a:avLst/>
          </a:prstGeom>
          <a:noFill/>
          <a:ln/>
        </p:spPr>
        <p:txBody>
          <a:bodyPr wrap="square" lIns="0" tIns="0" rIns="0" bIns="0" rtlCol="0" anchor="t"/>
          <a:lstStyle/>
          <a:p>
            <a:pPr indent="0" marL="0">
              <a:buNone/>
            </a:pPr>
            <a:r>
              <a:rPr lang="en-US" sz="1300" dirty="0">
                <a:solidFill>
                  <a:schemeClr val="tx2"/>
                </a:solidFill>
              </a:rPr>
              <a:t>decisions flipped at N4</a:t>
            </a:r>
            <a:endParaRPr lang="en-US" sz="1300" dirty="0"/>
          </a:p>
        </p:txBody>
      </p:sp>
      <p:sp>
        <p:nvSpPr>
          <p:cNvPr id="9" name="Text 5"/>
          <p:cNvSpPr txBox="1"/>
          <p:nvPr/>
        </p:nvSpPr>
        <p:spPr>
          <a:xfrm>
            <a:off x="6217920" y="5029200"/>
            <a:ext cx="2697480" cy="502920"/>
          </a:xfrm>
          <a:prstGeom prst="rect">
            <a:avLst/>
          </a:prstGeom>
          <a:noFill/>
          <a:ln/>
        </p:spPr>
        <p:txBody>
          <a:bodyPr wrap="square" lIns="0" tIns="0" rIns="0" bIns="0" rtlCol="0" anchor="t"/>
          <a:lstStyle/>
          <a:p>
            <a:pPr indent="0" marL="0">
              <a:buNone/>
            </a:pPr>
            <a:r>
              <a:rPr lang="en-US" sz="2200" b="1" dirty="0">
                <a:solidFill>
                  <a:schemeClr val="accent3"/>
                </a:solidFill>
                <a:latin typeface="Cambria" pitchFamily="34" charset="0"/>
                <a:ea typeface="Cambria" pitchFamily="34" charset="-122"/>
                <a:cs typeface="Cambria" pitchFamily="34" charset="-120"/>
              </a:rPr>
              <a:t>~2× spread</a:t>
            </a:r>
            <a:endParaRPr lang="en-US" sz="2200" dirty="0"/>
          </a:p>
        </p:txBody>
      </p:sp>
      <p:sp>
        <p:nvSpPr>
          <p:cNvPr id="10" name="Text 6"/>
          <p:cNvSpPr txBox="1"/>
          <p:nvPr/>
        </p:nvSpPr>
        <p:spPr>
          <a:xfrm>
            <a:off x="6217920" y="5532120"/>
            <a:ext cx="2697480" cy="365760"/>
          </a:xfrm>
          <a:prstGeom prst="rect">
            <a:avLst/>
          </a:prstGeom>
          <a:noFill/>
          <a:ln/>
        </p:spPr>
        <p:txBody>
          <a:bodyPr wrap="square" lIns="0" tIns="0" rIns="0" bIns="0" rtlCol="0" anchor="t"/>
          <a:lstStyle/>
          <a:p>
            <a:pPr indent="0" marL="0">
              <a:buNone/>
            </a:pPr>
            <a:r>
              <a:rPr lang="en-US" sz="1300" dirty="0">
                <a:solidFill>
                  <a:schemeClr val="tx2"/>
                </a:solidFill>
              </a:rPr>
              <a:t>run-to-run, with mitigation</a:t>
            </a:r>
            <a:endParaRPr lang="en-US" sz="1300" dirty="0"/>
          </a:p>
        </p:txBody>
      </p:sp>
      <p:sp>
        <p:nvSpPr>
          <p:cNvPr id="11" name="Text 7"/>
          <p:cNvSpPr txBox="1"/>
          <p:nvPr/>
        </p:nvSpPr>
        <p:spPr>
          <a:xfrm>
            <a:off x="9052560" y="5029200"/>
            <a:ext cx="2697480" cy="502920"/>
          </a:xfrm>
          <a:prstGeom prst="rect">
            <a:avLst/>
          </a:prstGeom>
          <a:noFill/>
          <a:ln/>
        </p:spPr>
        <p:txBody>
          <a:bodyPr wrap="square" lIns="0" tIns="0" rIns="0" bIns="0" rtlCol="0" anchor="t"/>
          <a:lstStyle/>
          <a:p>
            <a:pPr indent="0" marL="0">
              <a:buNone/>
            </a:pPr>
            <a:r>
              <a:rPr lang="en-US" sz="2200" b="1" dirty="0">
                <a:solidFill>
                  <a:schemeClr val="accent1"/>
                </a:solidFill>
                <a:latin typeface="Cambria" pitchFamily="34" charset="0"/>
                <a:ea typeface="Cambria" pitchFamily="34" charset="-122"/>
                <a:cs typeface="Cambria" pitchFamily="34" charset="-120"/>
              </a:rPr>
              <a:t>8 of 12</a:t>
            </a:r>
            <a:endParaRPr lang="en-US" sz="2200" dirty="0"/>
          </a:p>
        </p:txBody>
      </p:sp>
      <p:sp>
        <p:nvSpPr>
          <p:cNvPr id="12" name="Text 8"/>
          <p:cNvSpPr txBox="1"/>
          <p:nvPr/>
        </p:nvSpPr>
        <p:spPr>
          <a:xfrm>
            <a:off x="9052560" y="5532120"/>
            <a:ext cx="2697480" cy="365760"/>
          </a:xfrm>
          <a:prstGeom prst="rect">
            <a:avLst/>
          </a:prstGeom>
          <a:noFill/>
          <a:ln/>
        </p:spPr>
        <p:txBody>
          <a:bodyPr wrap="square" lIns="0" tIns="0" rIns="0" bIns="0" rtlCol="0" anchor="t"/>
          <a:lstStyle/>
          <a:p>
            <a:pPr indent="0" marL="0">
              <a:buNone/>
            </a:pPr>
            <a:r>
              <a:rPr lang="en-US" sz="1300" dirty="0">
                <a:solidFill>
                  <a:schemeClr val="tx2"/>
                </a:solidFill>
              </a:rPr>
              <a:t>unstable cases flagged at N4</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VR: an optional second view of the same results</a:t>
            </a:r>
            <a:endParaRPr lang="en-US" sz="3000" dirty="0"/>
          </a:p>
        </p:txBody>
      </p:sp>
      <p:sp>
        <p:nvSpPr>
          <p:cNvPr id="3" name="icon-circle"/>
          <p:cNvSpPr/>
          <p:nvPr/>
        </p:nvSpPr>
        <p:spPr>
          <a:xfrm>
            <a:off x="548640" y="1371600"/>
            <a:ext cx="685800" cy="685800"/>
          </a:xfrm>
          <a:prstGeom prst="ellipse">
            <a:avLst/>
          </a:prstGeom>
          <a:solidFill>
            <a:schemeClr val="accent1"/>
          </a:solidFill>
          <a:ln w="12700">
            <a:solidFill>
              <a:schemeClr val="accent1"/>
            </a:solidFill>
            <a:prstDash val="solid"/>
          </a:ln>
        </p:spPr>
      </p:sp>
      <p:pic>
        <p:nvPicPr>
          <p:cNvPr id="4" name="icon" descr="preencoded.png">    </p:cNvPr>
          <p:cNvPicPr>
            <a:picLocks noChangeAspect="1"/>
          </p:cNvPicPr>
          <p:nvPr/>
        </p:nvPicPr>
        <p:blipFill>
          <a:blip r:embed="rId1"/>
          <a:stretch>
            <a:fillRect/>
          </a:stretch>
        </p:blipFill>
        <p:spPr>
          <a:xfrm>
            <a:off x="713232" y="1536192"/>
            <a:ext cx="356616" cy="356616"/>
          </a:xfrm>
          <a:prstGeom prst="rect">
            <a:avLst/>
          </a:prstGeom>
        </p:spPr>
      </p:pic>
      <p:sp>
        <p:nvSpPr>
          <p:cNvPr id="5" name="Text 2"/>
          <p:cNvSpPr txBox="1"/>
          <p:nvPr/>
        </p:nvSpPr>
        <p:spPr>
          <a:xfrm>
            <a:off x="1463040" y="1371600"/>
            <a:ext cx="5212080" cy="36576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Walk around real 3D data</a:t>
            </a:r>
            <a:endParaRPr lang="en-US" sz="1900" dirty="0"/>
          </a:p>
        </p:txBody>
      </p:sp>
      <p:sp>
        <p:nvSpPr>
          <p:cNvPr id="6" name="Text 3"/>
          <p:cNvSpPr txBox="1"/>
          <p:nvPr/>
        </p:nvSpPr>
        <p:spPr>
          <a:xfrm>
            <a:off x="1463040" y="1755648"/>
            <a:ext cx="5212080" cy="822960"/>
          </a:xfrm>
          <a:prstGeom prst="rect">
            <a:avLst/>
          </a:prstGeom>
          <a:noFill/>
          <a:ln/>
        </p:spPr>
        <p:txBody>
          <a:bodyPr wrap="square" lIns="0" tIns="0" rIns="0" bIns="0" rtlCol="0" anchor="t"/>
          <a:lstStyle/>
          <a:p>
            <a:pPr indent="0" marL="0">
              <a:buNone/>
            </a:pPr>
            <a:r>
              <a:rPr lang="en-US" sz="1400" dirty="0">
                <a:solidFill>
                  <a:schemeClr val="tx2"/>
                </a:solidFill>
              </a:rPr>
              <a:t>Radiologist outlines are 3D point clouds; a headset shows their shape and the readers' disagreement directly.</a:t>
            </a:r>
            <a:endParaRPr lang="en-US" sz="1400" dirty="0"/>
          </a:p>
        </p:txBody>
      </p:sp>
      <p:sp>
        <p:nvSpPr>
          <p:cNvPr id="7" name="icon-circle"/>
          <p:cNvSpPr/>
          <p:nvPr/>
        </p:nvSpPr>
        <p:spPr>
          <a:xfrm>
            <a:off x="548640" y="2834640"/>
            <a:ext cx="685800" cy="685800"/>
          </a:xfrm>
          <a:prstGeom prst="ellipse">
            <a:avLst/>
          </a:prstGeom>
          <a:solidFill>
            <a:schemeClr val="accent2"/>
          </a:solidFill>
          <a:ln w="12700">
            <a:solidFill>
              <a:schemeClr val="accent2"/>
            </a:solidFill>
            <a:prstDash val="solid"/>
          </a:ln>
        </p:spPr>
      </p:sp>
      <p:pic>
        <p:nvPicPr>
          <p:cNvPr id="8" name="icon" descr="preencoded.png">    </p:cNvPr>
          <p:cNvPicPr>
            <a:picLocks noChangeAspect="1"/>
          </p:cNvPicPr>
          <p:nvPr/>
        </p:nvPicPr>
        <p:blipFill>
          <a:blip r:embed="rId2"/>
          <a:stretch>
            <a:fillRect/>
          </a:stretch>
        </p:blipFill>
        <p:spPr>
          <a:xfrm>
            <a:off x="713232" y="2999232"/>
            <a:ext cx="356616" cy="356616"/>
          </a:xfrm>
          <a:prstGeom prst="rect">
            <a:avLst/>
          </a:prstGeom>
        </p:spPr>
      </p:pic>
      <p:sp>
        <p:nvSpPr>
          <p:cNvPr id="9" name="Text 5"/>
          <p:cNvSpPr txBox="1"/>
          <p:nvPr/>
        </p:nvSpPr>
        <p:spPr>
          <a:xfrm>
            <a:off x="1463040" y="2834640"/>
            <a:ext cx="5212080" cy="36576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See noise as spread in space</a:t>
            </a:r>
            <a:endParaRPr lang="en-US" sz="1900" dirty="0"/>
          </a:p>
        </p:txBody>
      </p:sp>
      <p:sp>
        <p:nvSpPr>
          <p:cNvPr id="10" name="Text 6"/>
          <p:cNvSpPr txBox="1"/>
          <p:nvPr/>
        </p:nvSpPr>
        <p:spPr>
          <a:xfrm>
            <a:off x="1463040" y="3218688"/>
            <a:ext cx="5212080" cy="822960"/>
          </a:xfrm>
          <a:prstGeom prst="rect">
            <a:avLst/>
          </a:prstGeom>
          <a:noFill/>
          <a:ln/>
        </p:spPr>
        <p:txBody>
          <a:bodyPr wrap="square" lIns="0" tIns="0" rIns="0" bIns="0" rtlCol="0" anchor="t"/>
          <a:lstStyle/>
          <a:p>
            <a:pPr indent="0" marL="0">
              <a:buNone/>
            </a:pPr>
            <a:r>
              <a:rPr lang="en-US" sz="1400" dirty="0">
                <a:solidFill>
                  <a:schemeClr val="tx2"/>
                </a:solidFill>
              </a:rPr>
              <a:t>The 5 runs per noise level appear as clusters around the decision line, so an unstable case is visible at a glance.</a:t>
            </a:r>
            <a:endParaRPr lang="en-US" sz="1400" dirty="0"/>
          </a:p>
        </p:txBody>
      </p:sp>
      <p:sp>
        <p:nvSpPr>
          <p:cNvPr id="11" name="icon-circle"/>
          <p:cNvSpPr/>
          <p:nvPr/>
        </p:nvSpPr>
        <p:spPr>
          <a:xfrm>
            <a:off x="548640" y="4297680"/>
            <a:ext cx="685800" cy="685800"/>
          </a:xfrm>
          <a:prstGeom prst="ellipse">
            <a:avLst/>
          </a:prstGeom>
          <a:solidFill>
            <a:schemeClr val="accent5"/>
          </a:solidFill>
          <a:ln w="12700">
            <a:solidFill>
              <a:schemeClr val="accent5"/>
            </a:solidFill>
            <a:prstDash val="solid"/>
          </a:ln>
        </p:spPr>
      </p:sp>
      <p:pic>
        <p:nvPicPr>
          <p:cNvPr id="12" name="icon" descr="preencoded.png">    </p:cNvPr>
          <p:cNvPicPr>
            <a:picLocks noChangeAspect="1"/>
          </p:cNvPicPr>
          <p:nvPr/>
        </p:nvPicPr>
        <p:blipFill>
          <a:blip r:embed="rId3"/>
          <a:stretch>
            <a:fillRect/>
          </a:stretch>
        </p:blipFill>
        <p:spPr>
          <a:xfrm>
            <a:off x="713232" y="4462272"/>
            <a:ext cx="356616" cy="356616"/>
          </a:xfrm>
          <a:prstGeom prst="rect">
            <a:avLst/>
          </a:prstGeom>
        </p:spPr>
      </p:pic>
      <p:sp>
        <p:nvSpPr>
          <p:cNvPr id="13" name="Text 8"/>
          <p:cNvSpPr txBox="1"/>
          <p:nvPr/>
        </p:nvSpPr>
        <p:spPr>
          <a:xfrm>
            <a:off x="1463040" y="4297680"/>
            <a:ext cx="5212080" cy="365760"/>
          </a:xfrm>
          <a:prstGeom prst="rect">
            <a:avLst/>
          </a:prstGeom>
          <a:noFill/>
          <a:ln/>
        </p:spPr>
        <p:txBody>
          <a:bodyPr wrap="square" lIns="0" tIns="0" rIns="0" bIns="0" rtlCol="0" anchor="t"/>
          <a:lstStyle/>
          <a:p>
            <a:pPr indent="0" marL="0">
              <a:buNone/>
            </a:pPr>
            <a:r>
              <a:rPr lang="en-US" sz="1900" b="1" dirty="0">
                <a:solidFill>
                  <a:schemeClr val="tx1"/>
                </a:solidFill>
                <a:latin typeface="Cambria" pitchFamily="34" charset="0"/>
                <a:ea typeface="Cambria" pitchFamily="34" charset="-122"/>
                <a:cs typeface="Cambria" pitchFamily="34" charset="-120"/>
              </a:rPr>
              <a:t>Teach and demo</a:t>
            </a:r>
            <a:endParaRPr lang="en-US" sz="1900" dirty="0"/>
          </a:p>
        </p:txBody>
      </p:sp>
      <p:sp>
        <p:nvSpPr>
          <p:cNvPr id="14" name="Text 9"/>
          <p:cNvSpPr txBox="1"/>
          <p:nvPr/>
        </p:nvSpPr>
        <p:spPr>
          <a:xfrm>
            <a:off x="1463040" y="4681728"/>
            <a:ext cx="5212080" cy="822960"/>
          </a:xfrm>
          <a:prstGeom prst="rect">
            <a:avLst/>
          </a:prstGeom>
          <a:noFill/>
          <a:ln/>
        </p:spPr>
        <p:txBody>
          <a:bodyPr wrap="square" lIns="0" tIns="0" rIns="0" bIns="0" rtlCol="0" anchor="t"/>
          <a:lstStyle/>
          <a:p>
            <a:pPr indent="0" marL="0">
              <a:buNone/>
            </a:pPr>
            <a:r>
              <a:rPr lang="en-US" sz="1400" dirty="0">
                <a:solidFill>
                  <a:schemeClr val="tx2"/>
                </a:solidFill>
              </a:rPr>
              <a:t>A Quest 3 view helps students and judges grasp noise, mitigation and cost faster than a table.</a:t>
            </a:r>
            <a:endParaRPr lang="en-US" sz="1400" dirty="0"/>
          </a:p>
        </p:txBody>
      </p:sp>
      <p:sp>
        <p:nvSpPr>
          <p:cNvPr id="15" name="card"/>
          <p:cNvSpPr/>
          <p:nvPr/>
        </p:nvSpPr>
        <p:spPr>
          <a:xfrm>
            <a:off x="7040880" y="1371600"/>
            <a:ext cx="4572000" cy="2331720"/>
          </a:xfrm>
          <a:prstGeom prst="roundRect">
            <a:avLst>
              <a:gd name="adj" fmla="val 3137"/>
            </a:avLst>
          </a:prstGeom>
          <a:solidFill>
            <a:schemeClr val="bg2"/>
          </a:solidFill>
          <a:ln w="9525">
            <a:solidFill>
              <a:schemeClr val="bg2"/>
            </a:solidFill>
            <a:prstDash val="solid"/>
          </a:ln>
        </p:spPr>
      </p:sp>
      <p:sp>
        <p:nvSpPr>
          <p:cNvPr id="16" name="Text 11"/>
          <p:cNvSpPr txBox="1"/>
          <p:nvPr/>
        </p:nvSpPr>
        <p:spPr>
          <a:xfrm>
            <a:off x="7315200" y="1554480"/>
            <a:ext cx="4023360" cy="365760"/>
          </a:xfrm>
          <a:prstGeom prst="rect">
            <a:avLst/>
          </a:prstGeom>
          <a:noFill/>
          <a:ln/>
        </p:spPr>
        <p:txBody>
          <a:bodyPr wrap="square" lIns="0" tIns="0" rIns="0" bIns="0" rtlCol="0" anchor="t"/>
          <a:lstStyle/>
          <a:p>
            <a:pPr indent="0" marL="0">
              <a:buNone/>
            </a:pPr>
            <a:r>
              <a:rPr lang="en-US" sz="1600" b="1" dirty="0">
                <a:solidFill>
                  <a:schemeClr val="tx1"/>
                </a:solidFill>
                <a:latin typeface="Cambria" pitchFamily="34" charset="0"/>
                <a:ea typeface="Cambria" pitchFamily="34" charset="-122"/>
                <a:cs typeface="Cambria" pitchFamily="34" charset="-120"/>
              </a:rPr>
              <a:t>Why 3D can help (prior studies)</a:t>
            </a:r>
            <a:endParaRPr lang="en-US" sz="1600" dirty="0"/>
          </a:p>
        </p:txBody>
      </p:sp>
      <p:sp>
        <p:nvSpPr>
          <p:cNvPr id="17" name="Text 12"/>
          <p:cNvSpPr txBox="1"/>
          <p:nvPr/>
        </p:nvSpPr>
        <p:spPr>
          <a:xfrm>
            <a:off x="7315200" y="2011680"/>
            <a:ext cx="4023360" cy="1600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4A5568"/>
                </a:solidFill>
              </a:rPr>
              <a:t>Kunz et al. (2024): VR viewing of CT improved surgeons' resectability calls (5.5 vs 3 of 6 correct)</a:t>
            </a:r>
            <a:endParaRPr lang="en-US" sz="1400" dirty="0"/>
          </a:p>
          <a:p>
            <a:pPr marL="342900" indent="-342900">
              <a:spcAft>
                <a:spcPts val="600"/>
              </a:spcAft>
              <a:buSzPct val="100000"/>
              <a:buChar char="•"/>
            </a:pPr>
            <a:r>
              <a:rPr lang="en-US" sz="1300" dirty="0">
                <a:solidFill>
                  <a:srgbClr val="4A5568"/>
                </a:solidFill>
              </a:rPr>
              <a:t>O'Connor et al. (2018): VR users finished 3D molecular tasks faster</a:t>
            </a:r>
            <a:endParaRPr lang="en-US" sz="1400" dirty="0"/>
          </a:p>
        </p:txBody>
      </p:sp>
      <p:sp>
        <p:nvSpPr>
          <p:cNvPr id="18" name="card"/>
          <p:cNvSpPr/>
          <p:nvPr/>
        </p:nvSpPr>
        <p:spPr>
          <a:xfrm>
            <a:off x="7040880" y="3886200"/>
            <a:ext cx="4572000" cy="1965960"/>
          </a:xfrm>
          <a:prstGeom prst="roundRect">
            <a:avLst>
              <a:gd name="adj" fmla="val 3721"/>
            </a:avLst>
          </a:prstGeom>
          <a:solidFill>
            <a:schemeClr val="tx1"/>
          </a:solidFill>
          <a:ln w="9525">
            <a:solidFill>
              <a:schemeClr val="tx1"/>
            </a:solidFill>
            <a:prstDash val="solid"/>
          </a:ln>
        </p:spPr>
      </p:sp>
      <p:sp>
        <p:nvSpPr>
          <p:cNvPr id="19" name="Text 14"/>
          <p:cNvSpPr txBox="1"/>
          <p:nvPr/>
        </p:nvSpPr>
        <p:spPr>
          <a:xfrm>
            <a:off x="7315200" y="4069080"/>
            <a:ext cx="402336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Honest scope</a:t>
            </a:r>
            <a:endParaRPr lang="en-US" sz="1600" dirty="0"/>
          </a:p>
        </p:txBody>
      </p:sp>
      <p:sp>
        <p:nvSpPr>
          <p:cNvPr id="20" name="Text 15"/>
          <p:cNvSpPr txBox="1"/>
          <p:nvPr/>
        </p:nvSpPr>
        <p:spPr>
          <a:xfrm>
            <a:off x="7315200" y="4480560"/>
            <a:ext cx="4023360" cy="12801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C9D1E3"/>
                </a:solidFill>
              </a:rPr>
              <a:t>Status: planned, built after the desktop site</a:t>
            </a:r>
            <a:endParaRPr lang="en-US" sz="1400" dirty="0"/>
          </a:p>
          <a:p>
            <a:pPr marL="342900" indent="-342900">
              <a:spcAft>
                <a:spcPts val="600"/>
              </a:spcAft>
              <a:buSzPct val="100000"/>
              <a:buChar char="•"/>
            </a:pPr>
            <a:r>
              <a:rPr lang="en-US" sz="1300" dirty="0">
                <a:solidFill>
                  <a:srgbClr val="C9D1E3"/>
                </a:solidFill>
              </a:rPr>
              <a:t>Same data file as the website (WebXR, Quest 3)</a:t>
            </a:r>
            <a:endParaRPr lang="en-US" sz="1400" dirty="0"/>
          </a:p>
          <a:p>
            <a:pPr marL="342900" indent="-342900">
              <a:spcAft>
                <a:spcPts val="600"/>
              </a:spcAft>
              <a:buSzPct val="100000"/>
              <a:buChar char="•"/>
            </a:pPr>
            <a:r>
              <a:rPr lang="en-US" sz="1300" dirty="0">
                <a:solidFill>
                  <a:srgbClr val="C9D1E3"/>
                </a:solidFill>
              </a:rPr>
              <a:t>Does not change accuracy; desktop works fully without it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000" b="1" dirty="0">
                <a:solidFill>
                  <a:schemeClr val="tx1"/>
                </a:solidFill>
                <a:latin typeface="Cambria" pitchFamily="34" charset="0"/>
                <a:ea typeface="Cambria" pitchFamily="34" charset="-122"/>
                <a:cs typeface="Cambria" pitchFamily="34" charset="-120"/>
              </a:rPr>
              <a:t>Future implementations</a:t>
            </a:r>
            <a:endParaRPr lang="en-US" sz="3000" dirty="0"/>
          </a:p>
        </p:txBody>
      </p:sp>
      <p:sp>
        <p:nvSpPr>
          <p:cNvPr id="3" name="card"/>
          <p:cNvSpPr/>
          <p:nvPr/>
        </p:nvSpPr>
        <p:spPr>
          <a:xfrm>
            <a:off x="548640" y="1325880"/>
            <a:ext cx="3520440" cy="4160520"/>
          </a:xfrm>
          <a:prstGeom prst="roundRect">
            <a:avLst>
              <a:gd name="adj" fmla="val 2078"/>
            </a:avLst>
          </a:prstGeom>
          <a:solidFill>
            <a:schemeClr val="bg2"/>
          </a:solidFill>
          <a:ln w="9525">
            <a:solidFill>
              <a:srgbClr val="D8DEE8"/>
            </a:solidFill>
            <a:prstDash val="solid"/>
          </a:ln>
        </p:spPr>
      </p:sp>
      <p:sp>
        <p:nvSpPr>
          <p:cNvPr id="4" name="icon-circle"/>
          <p:cNvSpPr/>
          <p:nvPr/>
        </p:nvSpPr>
        <p:spPr>
          <a:xfrm>
            <a:off x="822960" y="1554480"/>
            <a:ext cx="640080" cy="640080"/>
          </a:xfrm>
          <a:prstGeom prst="ellipse">
            <a:avLst/>
          </a:prstGeom>
          <a:solidFill>
            <a:schemeClr val="accent1"/>
          </a:solidFill>
          <a:ln w="12700">
            <a:solidFill>
              <a:schemeClr val="accent1"/>
            </a:solidFill>
            <a:prstDash val="solid"/>
          </a:ln>
        </p:spPr>
      </p:sp>
      <p:pic>
        <p:nvPicPr>
          <p:cNvPr id="5" name="icon" descr="preencoded.png">    </p:cNvPr>
          <p:cNvPicPr>
            <a:picLocks noChangeAspect="1"/>
          </p:cNvPicPr>
          <p:nvPr/>
        </p:nvPicPr>
        <p:blipFill>
          <a:blip r:embed="rId1"/>
          <a:stretch>
            <a:fillRect/>
          </a:stretch>
        </p:blipFill>
        <p:spPr>
          <a:xfrm>
            <a:off x="976579" y="1708099"/>
            <a:ext cx="332842" cy="332842"/>
          </a:xfrm>
          <a:prstGeom prst="rect">
            <a:avLst/>
          </a:prstGeom>
        </p:spPr>
      </p:pic>
      <p:sp>
        <p:nvSpPr>
          <p:cNvPr id="6" name="Text 3"/>
          <p:cNvSpPr txBox="1"/>
          <p:nvPr/>
        </p:nvSpPr>
        <p:spPr>
          <a:xfrm>
            <a:off x="1645920" y="1719072"/>
            <a:ext cx="2194560" cy="320040"/>
          </a:xfrm>
          <a:prstGeom prst="rect">
            <a:avLst/>
          </a:prstGeom>
          <a:noFill/>
          <a:ln/>
        </p:spPr>
        <p:txBody>
          <a:bodyPr wrap="square" lIns="0" tIns="0" rIns="0" bIns="0" rtlCol="0" anchor="t"/>
          <a:lstStyle/>
          <a:p>
            <a:pPr indent="0" marL="0">
              <a:buNone/>
            </a:pPr>
            <a:r>
              <a:rPr lang="en-US" sz="1400" b="1" spc="200" kern="0" dirty="0">
                <a:solidFill>
                  <a:schemeClr val="accent1"/>
                </a:solidFill>
              </a:rPr>
              <a:t>Next</a:t>
            </a:r>
            <a:endParaRPr lang="en-US" sz="1400" dirty="0"/>
          </a:p>
        </p:txBody>
      </p:sp>
      <p:sp>
        <p:nvSpPr>
          <p:cNvPr id="7" name="Text 4"/>
          <p:cNvSpPr txBox="1"/>
          <p:nvPr/>
        </p:nvSpPr>
        <p:spPr>
          <a:xfrm>
            <a:off x="822960" y="2377440"/>
            <a:ext cx="3017520" cy="4572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Strengthen the method</a:t>
            </a:r>
            <a:endParaRPr lang="en-US" sz="2000" dirty="0"/>
          </a:p>
        </p:txBody>
      </p:sp>
      <p:sp>
        <p:nvSpPr>
          <p:cNvPr id="8" name="Text 5"/>
          <p:cNvSpPr txBox="1"/>
          <p:nvPr/>
        </p:nvSpPr>
        <p:spPr>
          <a:xfrm>
            <a:off x="822960" y="2971800"/>
            <a:ext cx="3017520" cy="23774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4A5568"/>
                </a:solidFill>
              </a:rPr>
              <a:t>Zero-noise extrapolation to reduce gate noise, not just readout noise</a:t>
            </a:r>
            <a:endParaRPr lang="en-US" sz="1400" dirty="0"/>
          </a:p>
          <a:p>
            <a:pPr marL="342900" indent="-342900">
              <a:spcAft>
                <a:spcPts val="1000"/>
              </a:spcAft>
              <a:buSzPct val="100000"/>
              <a:buChar char="•"/>
            </a:pPr>
            <a:r>
              <a:rPr lang="en-US" sz="1500" dirty="0">
                <a:solidFill>
                  <a:srgbClr val="4A5568"/>
                </a:solidFill>
              </a:rPr>
              <a:t>Noise settings taken from a real IBM device's calibration data</a:t>
            </a:r>
            <a:endParaRPr lang="en-US" sz="1400" dirty="0"/>
          </a:p>
          <a:p>
            <a:pPr marL="342900" indent="-342900">
              <a:spcAft>
                <a:spcPts val="1000"/>
              </a:spcAft>
              <a:buSzPct val="100000"/>
              <a:buChar char="•"/>
            </a:pPr>
            <a:r>
              <a:rPr lang="en-US" sz="1500" dirty="0">
                <a:solidFill>
                  <a:srgbClr val="4A5568"/>
                </a:solidFill>
              </a:rPr>
              <a:t>Confidence intervals grouped by patient</a:t>
            </a:r>
            <a:endParaRPr lang="en-US" sz="1400" dirty="0"/>
          </a:p>
        </p:txBody>
      </p:sp>
      <p:sp>
        <p:nvSpPr>
          <p:cNvPr id="9" name="phase-arrow"/>
          <p:cNvSpPr/>
          <p:nvPr/>
        </p:nvSpPr>
        <p:spPr>
          <a:xfrm>
            <a:off x="4096512" y="3383280"/>
            <a:ext cx="173736" cy="0"/>
          </a:xfrm>
          <a:prstGeom prst="line">
            <a:avLst/>
          </a:prstGeom>
          <a:noFill/>
          <a:ln w="25400">
            <a:solidFill>
              <a:srgbClr val="8A94A6"/>
            </a:solidFill>
            <a:prstDash val="solid"/>
            <a:tailEnd type="triangle"/>
          </a:ln>
        </p:spPr>
      </p:sp>
      <p:sp>
        <p:nvSpPr>
          <p:cNvPr id="10" name="card"/>
          <p:cNvSpPr/>
          <p:nvPr/>
        </p:nvSpPr>
        <p:spPr>
          <a:xfrm>
            <a:off x="4297680" y="1325880"/>
            <a:ext cx="3520440" cy="4160520"/>
          </a:xfrm>
          <a:prstGeom prst="roundRect">
            <a:avLst>
              <a:gd name="adj" fmla="val 2078"/>
            </a:avLst>
          </a:prstGeom>
          <a:solidFill>
            <a:schemeClr val="bg1"/>
          </a:solidFill>
          <a:ln w="9525">
            <a:solidFill>
              <a:srgbClr val="D8DEE8"/>
            </a:solidFill>
            <a:prstDash val="solid"/>
          </a:ln>
        </p:spPr>
      </p:sp>
      <p:sp>
        <p:nvSpPr>
          <p:cNvPr id="11" name="icon-circle"/>
          <p:cNvSpPr/>
          <p:nvPr/>
        </p:nvSpPr>
        <p:spPr>
          <a:xfrm>
            <a:off x="4572000" y="1554480"/>
            <a:ext cx="640080" cy="640080"/>
          </a:xfrm>
          <a:prstGeom prst="ellipse">
            <a:avLst/>
          </a:prstGeom>
          <a:solidFill>
            <a:schemeClr val="accent3"/>
          </a:solidFill>
          <a:ln w="12700">
            <a:solidFill>
              <a:schemeClr val="accent3"/>
            </a:solidFill>
            <a:prstDash val="solid"/>
          </a:ln>
        </p:spPr>
      </p:sp>
      <p:pic>
        <p:nvPicPr>
          <p:cNvPr id="12" name="icon" descr="preencoded.png">    </p:cNvPr>
          <p:cNvPicPr>
            <a:picLocks noChangeAspect="1"/>
          </p:cNvPicPr>
          <p:nvPr/>
        </p:nvPicPr>
        <p:blipFill>
          <a:blip r:embed="rId2"/>
          <a:stretch>
            <a:fillRect/>
          </a:stretch>
        </p:blipFill>
        <p:spPr>
          <a:xfrm>
            <a:off x="4725619" y="1708099"/>
            <a:ext cx="332842" cy="332842"/>
          </a:xfrm>
          <a:prstGeom prst="rect">
            <a:avLst/>
          </a:prstGeom>
        </p:spPr>
      </p:pic>
      <p:sp>
        <p:nvSpPr>
          <p:cNvPr id="13" name="Text 9"/>
          <p:cNvSpPr txBox="1"/>
          <p:nvPr/>
        </p:nvSpPr>
        <p:spPr>
          <a:xfrm>
            <a:off x="5394960" y="1719072"/>
            <a:ext cx="2194560" cy="320040"/>
          </a:xfrm>
          <a:prstGeom prst="rect">
            <a:avLst/>
          </a:prstGeom>
          <a:noFill/>
          <a:ln/>
        </p:spPr>
        <p:txBody>
          <a:bodyPr wrap="square" lIns="0" tIns="0" rIns="0" bIns="0" rtlCol="0" anchor="t"/>
          <a:lstStyle/>
          <a:p>
            <a:pPr indent="0" marL="0">
              <a:buNone/>
            </a:pPr>
            <a:r>
              <a:rPr lang="en-US" sz="1400" b="1" spc="200" kern="0" dirty="0">
                <a:solidFill>
                  <a:schemeClr val="accent3"/>
                </a:solidFill>
              </a:rPr>
              <a:t>Then</a:t>
            </a:r>
            <a:endParaRPr lang="en-US" sz="1400" dirty="0"/>
          </a:p>
        </p:txBody>
      </p:sp>
      <p:sp>
        <p:nvSpPr>
          <p:cNvPr id="14" name="Text 10"/>
          <p:cNvSpPr txBox="1"/>
          <p:nvPr/>
        </p:nvSpPr>
        <p:spPr>
          <a:xfrm>
            <a:off x="4572000" y="2377440"/>
            <a:ext cx="3017520" cy="4572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Real hardware and VR</a:t>
            </a:r>
            <a:endParaRPr lang="en-US" sz="2000" dirty="0"/>
          </a:p>
        </p:txBody>
      </p:sp>
      <p:sp>
        <p:nvSpPr>
          <p:cNvPr id="15" name="Text 11"/>
          <p:cNvSpPr txBox="1"/>
          <p:nvPr/>
        </p:nvSpPr>
        <p:spPr>
          <a:xfrm>
            <a:off x="4572000" y="2971800"/>
            <a:ext cx="3017520" cy="23774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4A5568"/>
                </a:solidFill>
              </a:rPr>
              <a:t>Run the frozen classifier on real IBM Quantum hardware</a:t>
            </a:r>
            <a:endParaRPr lang="en-US" sz="1400" dirty="0"/>
          </a:p>
          <a:p>
            <a:pPr marL="342900" indent="-342900">
              <a:spcAft>
                <a:spcPts val="1000"/>
              </a:spcAft>
              <a:buSzPct val="100000"/>
              <a:buChar char="•"/>
            </a:pPr>
            <a:r>
              <a:rPr lang="en-US" sz="1500" dirty="0">
                <a:solidFill>
                  <a:srgbClr val="4A5568"/>
                </a:solidFill>
              </a:rPr>
              <a:t>Meta Quest 3 view of the same results (WebXR)</a:t>
            </a:r>
            <a:endParaRPr lang="en-US" sz="1400" dirty="0"/>
          </a:p>
          <a:p>
            <a:pPr marL="342900" indent="-342900">
              <a:spcAft>
                <a:spcPts val="1000"/>
              </a:spcAft>
              <a:buSzPct val="100000"/>
              <a:buChar char="•"/>
            </a:pPr>
            <a:r>
              <a:rPr lang="en-US" sz="1500" dirty="0">
                <a:solidFill>
                  <a:srgbClr val="4A5568"/>
                </a:solidFill>
              </a:rPr>
              <a:t>Noise-aware training as a separate experiment</a:t>
            </a:r>
            <a:endParaRPr lang="en-US" sz="1400" dirty="0"/>
          </a:p>
        </p:txBody>
      </p:sp>
      <p:sp>
        <p:nvSpPr>
          <p:cNvPr id="16" name="phase-arrow"/>
          <p:cNvSpPr/>
          <p:nvPr/>
        </p:nvSpPr>
        <p:spPr>
          <a:xfrm>
            <a:off x="7845552" y="3383280"/>
            <a:ext cx="173736" cy="0"/>
          </a:xfrm>
          <a:prstGeom prst="line">
            <a:avLst/>
          </a:prstGeom>
          <a:noFill/>
          <a:ln w="25400">
            <a:solidFill>
              <a:srgbClr val="8A94A6"/>
            </a:solidFill>
            <a:prstDash val="solid"/>
            <a:tailEnd type="triangle"/>
          </a:ln>
        </p:spPr>
      </p:sp>
      <p:sp>
        <p:nvSpPr>
          <p:cNvPr id="17" name="card"/>
          <p:cNvSpPr/>
          <p:nvPr/>
        </p:nvSpPr>
        <p:spPr>
          <a:xfrm>
            <a:off x="8046720" y="1325880"/>
            <a:ext cx="3520440" cy="4160520"/>
          </a:xfrm>
          <a:prstGeom prst="roundRect">
            <a:avLst>
              <a:gd name="adj" fmla="val 2078"/>
            </a:avLst>
          </a:prstGeom>
          <a:solidFill>
            <a:schemeClr val="bg1"/>
          </a:solidFill>
          <a:ln w="9525">
            <a:solidFill>
              <a:srgbClr val="D8DEE8"/>
            </a:solidFill>
            <a:prstDash val="solid"/>
          </a:ln>
        </p:spPr>
      </p:sp>
      <p:sp>
        <p:nvSpPr>
          <p:cNvPr id="18" name="icon-circle"/>
          <p:cNvSpPr/>
          <p:nvPr/>
        </p:nvSpPr>
        <p:spPr>
          <a:xfrm>
            <a:off x="8321040" y="1554480"/>
            <a:ext cx="640080" cy="640080"/>
          </a:xfrm>
          <a:prstGeom prst="ellipse">
            <a:avLst/>
          </a:prstGeom>
          <a:solidFill>
            <a:schemeClr val="accent5"/>
          </a:solidFill>
          <a:ln w="12700">
            <a:solidFill>
              <a:schemeClr val="accent5"/>
            </a:solidFill>
            <a:prstDash val="solid"/>
          </a:ln>
        </p:spPr>
      </p:sp>
      <p:pic>
        <p:nvPicPr>
          <p:cNvPr id="19" name="icon" descr="preencoded.png">    </p:cNvPr>
          <p:cNvPicPr>
            <a:picLocks noChangeAspect="1"/>
          </p:cNvPicPr>
          <p:nvPr/>
        </p:nvPicPr>
        <p:blipFill>
          <a:blip r:embed="rId3"/>
          <a:stretch>
            <a:fillRect/>
          </a:stretch>
        </p:blipFill>
        <p:spPr>
          <a:xfrm>
            <a:off x="8474659" y="1708099"/>
            <a:ext cx="332842" cy="332842"/>
          </a:xfrm>
          <a:prstGeom prst="rect">
            <a:avLst/>
          </a:prstGeom>
        </p:spPr>
      </p:pic>
      <p:sp>
        <p:nvSpPr>
          <p:cNvPr id="20" name="Text 15"/>
          <p:cNvSpPr txBox="1"/>
          <p:nvPr/>
        </p:nvSpPr>
        <p:spPr>
          <a:xfrm>
            <a:off x="9144000" y="1719072"/>
            <a:ext cx="2194560" cy="320040"/>
          </a:xfrm>
          <a:prstGeom prst="rect">
            <a:avLst/>
          </a:prstGeom>
          <a:noFill/>
          <a:ln/>
        </p:spPr>
        <p:txBody>
          <a:bodyPr wrap="square" lIns="0" tIns="0" rIns="0" bIns="0" rtlCol="0" anchor="t"/>
          <a:lstStyle/>
          <a:p>
            <a:pPr indent="0" marL="0">
              <a:buNone/>
            </a:pPr>
            <a:r>
              <a:rPr lang="en-US" sz="1400" b="1" spc="200" kern="0" dirty="0">
                <a:solidFill>
                  <a:schemeClr val="accent5"/>
                </a:solidFill>
              </a:rPr>
              <a:t>Later</a:t>
            </a:r>
            <a:endParaRPr lang="en-US" sz="1400" dirty="0"/>
          </a:p>
        </p:txBody>
      </p:sp>
      <p:sp>
        <p:nvSpPr>
          <p:cNvPr id="21" name="Text 16"/>
          <p:cNvSpPr txBox="1"/>
          <p:nvPr/>
        </p:nvSpPr>
        <p:spPr>
          <a:xfrm>
            <a:off x="8321040" y="2377440"/>
            <a:ext cx="3017520" cy="4572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Wider use</a:t>
            </a:r>
            <a:endParaRPr lang="en-US" sz="2000" dirty="0"/>
          </a:p>
        </p:txBody>
      </p:sp>
      <p:sp>
        <p:nvSpPr>
          <p:cNvPr id="22" name="Text 17"/>
          <p:cNvSpPr txBox="1"/>
          <p:nvPr/>
        </p:nvSpPr>
        <p:spPr>
          <a:xfrm>
            <a:off x="8321040" y="2971800"/>
            <a:ext cx="3017520" cy="23774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4A5568"/>
                </a:solidFill>
              </a:rPr>
              <a:t>Features measured from CT images, not only radiologist outlines</a:t>
            </a:r>
            <a:endParaRPr lang="en-US" sz="1400" dirty="0"/>
          </a:p>
          <a:p>
            <a:pPr marL="342900" indent="-342900">
              <a:spcAft>
                <a:spcPts val="1000"/>
              </a:spcAft>
              <a:buSzPct val="100000"/>
              <a:buChar char="•"/>
            </a:pPr>
            <a:r>
              <a:rPr lang="en-US" sz="1500" dirty="0">
                <a:solidFill>
                  <a:srgbClr val="4A5568"/>
                </a:solidFill>
              </a:rPr>
              <a:t>Include harder, unclear nodules (rating 3)</a:t>
            </a:r>
            <a:endParaRPr lang="en-US" sz="1400" dirty="0"/>
          </a:p>
          <a:p>
            <a:pPr marL="342900" indent="-342900">
              <a:spcAft>
                <a:spcPts val="1000"/>
              </a:spcAft>
              <a:buSzPct val="100000"/>
              <a:buChar char="•"/>
            </a:pPr>
            <a:r>
              <a:rPr lang="en-US" sz="1500" dirty="0">
                <a:solidFill>
                  <a:srgbClr val="4A5568"/>
                </a:solidFill>
              </a:rPr>
              <a:t>Open toolkit: plug in any small quantum classifier and dataset</a:t>
            </a:r>
            <a:endParaRPr lang="en-US" sz="1400" dirty="0"/>
          </a:p>
        </p:txBody>
      </p:sp>
      <p:sp>
        <p:nvSpPr>
          <p:cNvPr id="23" name="Text 18"/>
          <p:cNvSpPr txBox="1"/>
          <p:nvPr/>
        </p:nvSpPr>
        <p:spPr>
          <a:xfrm>
            <a:off x="548640" y="5760720"/>
            <a:ext cx="11064240" cy="365760"/>
          </a:xfrm>
          <a:prstGeom prst="rect">
            <a:avLst/>
          </a:prstGeom>
          <a:noFill/>
          <a:ln/>
        </p:spPr>
        <p:txBody>
          <a:bodyPr wrap="square" lIns="0" tIns="0" rIns="0" bIns="0" rtlCol="0" anchor="t"/>
          <a:lstStyle/>
          <a:p>
            <a:pPr indent="0" marL="0">
              <a:buNone/>
            </a:pPr>
            <a:r>
              <a:rPr lang="en-US" sz="1400" i="1" dirty="0">
                <a:solidFill>
                  <a:schemeClr val="tx2"/>
                </a:solidFill>
              </a:rPr>
              <a:t>Each step keeps the same rule: every result is saved, reproducible and compared with a classical baseline.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280160"/>
          </a:xfrm>
          <a:prstGeom prst="rect">
            <a:avLst/>
          </a:prstGeom>
          <a:noFill/>
          <a:ln/>
        </p:spPr>
        <p:txBody>
          <a:bodyPr wrap="square"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When can you trust a quantum answer?</a:t>
            </a:r>
            <a:endParaRPr lang="en-US" sz="5400" dirty="0"/>
          </a:p>
        </p:txBody>
      </p:sp>
      <p:sp>
        <p:nvSpPr>
          <p:cNvPr id="3" name="Text 0"/>
          <p:cNvSpPr/>
          <p:nvPr>
            <p:ph idx="101" type="body" hasCustomPrompt="1"/>
          </p:nvPr>
        </p:nvSpPr>
        <p:spPr>
          <a:xfrm>
            <a:off x="731520" y="3429000"/>
            <a:ext cx="10058400" cy="1463040"/>
          </a:xfrm>
          <a:prstGeom prst="rect">
            <a:avLst/>
          </a:prstGeom>
          <a:noFill/>
          <a:ln/>
        </p:spPr>
        <p:txBody>
          <a:bodyPr wrap="square" rtlCol="0" anchor="t"/>
          <a:lstStyle/>
          <a:p>
            <a:pPr indent="0" marL="0">
              <a:buNone/>
            </a:pPr>
            <a:r>
              <a:rPr lang="en-US" sz="2000" dirty="0">
                <a:solidFill>
                  <a:srgbClr val="C9D1E3"/>
                </a:solidFill>
              </a:rPr>
              <a:t>QURE Lab measures it, case by case, and shows what reliability costs.</a:t>
            </a:r>
            <a:endParaRPr lang="en-US" sz="2000" dirty="0"/>
          </a:p>
        </p:txBody>
      </p:sp>
      <p:sp>
        <p:nvSpPr>
          <p:cNvPr id="4" name="Text 2"/>
          <p:cNvSpPr txBox="1"/>
          <p:nvPr/>
        </p:nvSpPr>
        <p:spPr>
          <a:xfrm>
            <a:off x="731520" y="4937760"/>
            <a:ext cx="10515600" cy="822960"/>
          </a:xfrm>
          <a:prstGeom prst="rect">
            <a:avLst/>
          </a:prstGeom>
          <a:noFill/>
          <a:ln/>
        </p:spPr>
        <p:txBody>
          <a:bodyPr wrap="square" lIns="0" tIns="0" rIns="0" bIns="0" rtlCol="0" anchor="t"/>
          <a:lstStyle/>
          <a:p>
            <a:pPr indent="0" marL="0">
              <a:buNone/>
            </a:pPr>
            <a:r>
              <a:rPr lang="en-US" sz="1600" b="1" dirty="0">
                <a:solidFill>
                  <a:srgbClr val="FFFFFF"/>
                </a:solidFill>
              </a:rPr>
              <a:t>Next steps</a:t>
            </a:r>
            <a:endParaRPr lang="en-US" sz="1600" dirty="0"/>
          </a:p>
          <a:p>
            <a:pPr indent="0" marL="0">
              <a:buNone/>
            </a:pPr>
            <a:r>
              <a:rPr lang="en-US" sz="1600" dirty="0">
                <a:solidFill>
                  <a:srgbClr val="C9D1E3"/>
                </a:solidFill>
              </a:rPr>
              <a:t>Zero-noise extrapolation · real IBM hardware · Quest 3 view · CT-image features</a:t>
            </a:r>
            <a:endParaRPr lang="en-US" sz="1600" dirty="0"/>
          </a:p>
        </p:txBody>
      </p:sp>
      <p:sp>
        <p:nvSpPr>
          <p:cNvPr id="5" name="Text 3"/>
          <p:cNvSpPr txBox="1"/>
          <p:nvPr/>
        </p:nvSpPr>
        <p:spPr>
          <a:xfrm>
            <a:off x="731520" y="5943600"/>
            <a:ext cx="10515600" cy="365760"/>
          </a:xfrm>
          <a:prstGeom prst="rect">
            <a:avLst/>
          </a:prstGeom>
          <a:noFill/>
          <a:ln/>
        </p:spPr>
        <p:txBody>
          <a:bodyPr wrap="square" lIns="0" tIns="0" rIns="0" bIns="0" rtlCol="0" anchor="t"/>
          <a:lstStyle/>
          <a:p>
            <a:pPr indent="0" marL="0">
              <a:buNone/>
            </a:pPr>
            <a:r>
              <a:rPr lang="en-US" sz="1400" dirty="0">
                <a:solidFill>
                  <a:srgbClr val="8EA0BF"/>
                </a:solidFill>
              </a:rPr>
              <a:t>Live demo: the QURE Lab dashboard (shared link or offline file)</a:t>
            </a:r>
            <a:endParaRPr lang="en-US" sz="1400" dirty="0"/>
          </a:p>
        </p:txBody>
      </p:sp>
    </p:spTree>
  </p:cSld>
  <p:clrMapOvr>
    <a:masterClrMapping/>
  </p:clrMapOvr>
</p:sld>
</file>

<file path=ppt/theme/theme1.xml><?xml version="1.0" encoding="utf-8"?>
<a:theme xmlns:a="http://schemas.openxmlformats.org/drawingml/2006/main" name="QURE Lab">
  <a:themeElements>
    <a:clrScheme name="QURE Lab">
      <a:dk1>
        <a:srgbClr val="13213A"/>
      </a:dk1>
      <a:lt1>
        <a:srgbClr val="FFFFFF"/>
      </a:lt1>
      <a:dk2>
        <a:srgbClr val="4A5568"/>
      </a:dk2>
      <a:lt2>
        <a:srgbClr val="F3F5F9"/>
      </a:lt2>
      <a:accent1>
        <a:srgbClr val="5B4BC4"/>
      </a:accent1>
      <a:accent2>
        <a:srgbClr val="C8432B"/>
      </a:accent2>
      <a:accent3>
        <a:srgbClr val="2B66C4"/>
      </a:accent3>
      <a:accent4>
        <a:srgbClr val="A87B12"/>
      </a:accent4>
      <a:accent5>
        <a:srgbClr val="1F8A70"/>
      </a:accent5>
      <a:accent6>
        <a:srgbClr val="8A94A6"/>
      </a:accent6>
      <a:hlink>
        <a:srgbClr val="2B66C4"/>
      </a:hlink>
      <a:folHlink>
        <a:srgbClr val="5B4BC4"/>
      </a:folHlink>
    </a:clrScheme>
    <a:fontScheme name="QURE Lab">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QURE Lab</dc:title>
  <dc:subject>PptxGenJS Presentation</dc:subject>
  <dc:creator>QURE Lab team</dc:creator>
  <cp:lastModifiedBy>QURE Lab team</cp:lastModifiedBy>
  <cp:revision>1</cp:revision>
  <dcterms:created xsi:type="dcterms:W3CDTF">2026-10-06T16:37:46Z</dcterms:created>
  <dcterms:modified xsi:type="dcterms:W3CDTF">2026-10-06T16:37:46Z</dcterms:modified>
</cp:coreProperties>
</file>